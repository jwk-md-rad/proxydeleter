
<file path=[Content_Types].xml><?xml version="1.0" encoding="utf-8"?>
<Types xmlns="http://schemas.openxmlformats.org/package/2006/content-types">
  <Default Extension="bin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media/image20.bin" ContentType="image/png"/>
  <Override PartName="/ppt/media/image21.bin" ContentType="image/png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70" r:id="rId3"/>
    <p:sldId id="271" r:id="rId4"/>
    <p:sldId id="272" r:id="rId5"/>
    <p:sldId id="291" r:id="rId6"/>
    <p:sldId id="257" r:id="rId7"/>
    <p:sldId id="273" r:id="rId8"/>
    <p:sldId id="274" r:id="rId9"/>
    <p:sldId id="275" r:id="rId10"/>
    <p:sldId id="276" r:id="rId11"/>
    <p:sldId id="277" r:id="rId12"/>
    <p:sldId id="301" r:id="rId13"/>
    <p:sldId id="278" r:id="rId14"/>
    <p:sldId id="279" r:id="rId15"/>
    <p:sldId id="302" r:id="rId16"/>
    <p:sldId id="313" r:id="rId17"/>
    <p:sldId id="311" r:id="rId18"/>
    <p:sldId id="326" r:id="rId19"/>
    <p:sldId id="283" r:id="rId20"/>
    <p:sldId id="295" r:id="rId21"/>
    <p:sldId id="297" r:id="rId22"/>
    <p:sldId id="296" r:id="rId23"/>
    <p:sldId id="304" r:id="rId24"/>
    <p:sldId id="294" r:id="rId25"/>
    <p:sldId id="287" r:id="rId26"/>
    <p:sldId id="298" r:id="rId27"/>
    <p:sldId id="299" r:id="rId28"/>
    <p:sldId id="300" r:id="rId29"/>
    <p:sldId id="303" r:id="rId30"/>
    <p:sldId id="289" r:id="rId31"/>
    <p:sldId id="290" r:id="rId32"/>
    <p:sldId id="308" r:id="rId33"/>
    <p:sldId id="305" r:id="rId34"/>
    <p:sldId id="310" r:id="rId35"/>
    <p:sldId id="314" r:id="rId36"/>
    <p:sldId id="307" r:id="rId37"/>
    <p:sldId id="315" r:id="rId38"/>
    <p:sldId id="316" r:id="rId39"/>
    <p:sldId id="264" r:id="rId40"/>
    <p:sldId id="318" r:id="rId41"/>
    <p:sldId id="322" r:id="rId42"/>
    <p:sldId id="325" r:id="rId43"/>
    <p:sldId id="323" r:id="rId44"/>
    <p:sldId id="324" r:id="rId45"/>
    <p:sldId id="327" r:id="rId46"/>
    <p:sldId id="328" r:id="rId47"/>
    <p:sldId id="319" r:id="rId48"/>
    <p:sldId id="321" r:id="rId49"/>
    <p:sldId id="258" r:id="rId50"/>
    <p:sldId id="268" r:id="rId51"/>
    <p:sldId id="269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51"/>
    <p:restoredTop sz="94643"/>
  </p:normalViewPr>
  <p:slideViewPr>
    <p:cSldViewPr snapToGrid="0" snapToObjects="1">
      <p:cViewPr>
        <p:scale>
          <a:sx n="100" d="100"/>
          <a:sy n="100" d="100"/>
        </p:scale>
        <p:origin x="592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3/28/26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B958E-DA00-1567-B3B8-D137A05A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09CA6-6AE2-CE4F-80C4-A72AACE83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7E7729-1B9C-2E2A-2C9C-BE56803AA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7EF5A-11E0-E182-BD11-EED9E70AC0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025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D3AA-5DDF-8E6B-4EDA-1A7F2DB5D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C24F5-B506-B0B1-5D9B-0009620B3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6A3C9-97C2-14A3-F65D-D61A142FA3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40E01-DD7A-4C43-6B82-48BE16E798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29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4A01-317E-5B13-D948-9B74F6B9C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F04DB0-DECF-BE31-0D12-686936B61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ED29C-9928-B8DD-1162-3BCBC60AC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79EA5-F8E3-7764-6373-852E469F2C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22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0A4E-C6B5-5BFD-3E14-3CE52C744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76399-D286-EA48-EF08-3286849FE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36CDA-1CCE-8FE2-9B43-20168AA49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F4781-2161-84BE-B2BE-95DF51C37E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57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18710-BB9B-0375-2CBC-27338F61D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A29E00-4364-03F5-F88F-7DFB7FD87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1FD58-A931-F71B-EB4F-CD22BB27C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F3838-BEA5-3708-ABCC-03A6441CC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50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FA347-A2E4-421A-195A-9C5BE7E7B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6D27F-3014-B6C5-1EEE-E88E797D12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93009-7F36-CFD1-E6EF-8933502AC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03042-FB34-AC68-7158-D99A97AF90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35817-CCA9-19D0-2897-DAC6BC60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8E380-D607-8DF1-92F5-2361D5852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7BA37-421B-344B-0A3B-E80046032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A1143-44C4-5DDA-7C5A-23321CBEED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285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93FC0-607F-846D-7B95-6CEFDF41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C62D2-3041-329C-F64D-6B40F53E9D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C58EB-15C8-777F-6A83-11B59562B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181BC5-8738-2F57-CD67-25C877731D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077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BEB60-94AF-EA22-3576-A50F476A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CFA12-E077-A094-14DC-06F32ED9E4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23495-3BEE-5888-D4B4-9A7039214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523E6-FA78-0AFE-9436-D94E01AFF6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50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8593D-345D-4294-2E71-CB61F7C96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041CF-4DF0-EF32-B0D5-2D2629382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B1710-ED8F-0E02-B39E-57E83485C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DF6ED1-6BCF-27CC-A07D-CA099A456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57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656E6-52D3-B126-E870-76B1152F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767C9-9EBE-91C0-8170-5122BCC64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6177D-D644-AE7D-4FFF-B9C35E4C4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0E60C-8ECC-81CD-5CA2-820001A70C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78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D9C4A-A26A-7CED-09B2-0E637C91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7D66E9-55B9-2EC2-9DD0-22BBE6E17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0C97B-47A9-9106-2627-48750D6D1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FCF64-E86B-B2F0-03DE-F99C1DEB6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30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D82C-6772-A2CA-73FA-B5A30186C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E3F35-B0E4-317E-AE9F-C87D502A49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C906DF-F10B-FC34-2604-FA59585E0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957E6-1BBF-E4FB-F6BC-02329F254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142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5F005-A227-39D0-F23E-18E62D51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BCC6E1-0402-5B4B-2436-E5492C127C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B40FF-BF29-F011-8A65-22AC26A02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F710E-B0A4-A2E9-0C0F-B0BB754707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2371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404BB-22FD-2AC9-3B8F-952AA142C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4E751-BF45-1E66-3B12-751D3AF50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6684E-33CE-383A-3EFC-D691B888B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797B6-9390-830C-8BD6-375BD46FBD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21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1D1F0-583E-16BC-D1E6-F799A8587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6FA7E-A658-B4CA-364C-0B66E120C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18B2B-F76B-928F-56BB-B2CCD1671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A9D9C-B7BF-5EF3-0B4E-E5823CD9EA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49437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501F1-5AD2-9808-1EDC-42DB0B8A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88BE7B-D622-8EFF-037E-F8AB5EBFA9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F9983-3CCC-50BA-9C13-7A4AC5B75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058F6-596A-2D5A-5CB1-3DE73053DE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02505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8FB8C-9F49-9083-D282-2F49390FA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8E092-2220-9970-645F-4BAEBD3251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7D079-34CF-62E5-4A6A-415B3DBAC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AA646-E724-4A31-C6DC-C88520DAAA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50158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630F-A780-D640-2437-C27737696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FC395-96AD-3662-634A-77904BF68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21F17-DCA9-F1BE-244E-5A0B24BC8F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78799-29FB-DE5F-C62A-99418126D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1838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B001C-0470-E2F7-471A-14BAC2989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CDBAA-1EE7-71CE-95DD-4D040BA84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808D5-A777-51D9-4D0C-97164A525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8A41C-1E2D-6195-C159-67CBED615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0025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3A3F7-A849-8714-3C7F-9341DEB21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37076-60E3-3F18-463F-74BAE8856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C17DD8-F17F-C734-C084-A3107F564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96591-C86C-5F68-628F-CC0AF8B486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2751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A8010-EA5D-1A03-1220-2807C2DFD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422121-855A-8CC9-5883-501140CB3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DF589-DFBB-D5C2-3825-A42340D10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CC3CE-1511-BCF8-6686-39F0996CE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6915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3A13D-3042-5B6E-2B0A-0CE66E124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2F9E3-9B01-998F-9A5E-7B372B7D5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7271D-3E17-7DA1-DB62-A847CC54D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347C6-62E6-4E6A-0B73-2EDE9D87A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3666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248D4-FFB0-0A01-E3AC-248F0D472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A204C-8D26-AD1B-7695-60A4757BE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49C6F-B63E-A1B4-B8BC-DB6EA8358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B5D5E-553C-1113-3876-4B2A619DF9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53151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9A03F-BA2C-6BCA-E615-4A99F245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C08FE-401C-38E1-3D4C-1033E8A70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9EC75-A37C-8721-F52B-EB2A2E8BF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B2AB8-DBA4-CF8F-4A07-374CACDF1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57585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08DD-5239-A8AF-200F-A91561FF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44283E-6A0A-83A5-3777-42E9B1EC7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7F11E-41F7-25CC-0BD2-8A67E65DDD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BC979-F88B-190D-284A-67D367476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91035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D9B72-C92B-631E-080C-F1A4FEB1D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079793-E5F3-7BDB-4874-61D94A6DC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98454-DF95-07B7-50DC-E86175157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465F3-0ACC-57BE-BC7B-E44C7CF2A3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4592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14EA6-968A-FA8E-9D2C-4E87D1588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046B9-65BA-6B56-BD8F-61F09337D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066C33-F8BB-FDE8-99D6-D204F72478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3344F-DAA8-E2D4-8160-5BE7F4B6F4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32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BE434-E5A0-374F-44CF-7FA82EAA0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07D49-FA37-3375-ACE2-53C539B4C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3BDB3-B949-561F-06F2-CC749F883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898AC-94FB-3AFD-1A05-E3E0CE2FFF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67491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4C23F-3228-B65B-4FF8-E704B6BE3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485F3-5064-689C-8548-109E21C742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F7CB1-BBA0-6A34-4A3E-59CB1A51D4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FB491-BDE7-576B-B3B0-ACD5177D5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12143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D7761-C51B-3988-6554-540D4B76F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2C3F9-A113-04B0-EA67-E8702FE5BC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DEF5A-9CA0-47F5-15D7-DF87284E4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5749F-DEC3-350F-C4CD-CAD4A3E77A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9348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C4C66-29E1-DBA1-C8E8-278964836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F05B7-99B1-7AF1-75B7-D2FD1C975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2553C-7F15-1509-72C9-CD6DC27F0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321F2-19DE-BD23-C759-A093DB23F4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49308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144F8-884A-6896-37B0-85B1D8F50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62CBE-1404-A764-24C2-88EB8596A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675A6-32C9-AF6B-6715-1E2D5F22D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993B9-AED6-3F12-223F-6185C7D89D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0085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5EA7A-4932-0401-10BF-813CDF8DB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17B7DA-46A1-0903-53A7-7086C825D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607A1-CF70-7DBA-6126-60A561866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1511A-7C69-C50C-548A-06FF7A2306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8511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6674A-9FAB-A34C-C8D5-4E66E9782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95651-4284-5664-02FD-C7CBC7863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C5F9C-8BB6-F70C-3EA9-85EAA8E06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8BF43-5896-000A-A668-9757232A4E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3439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565D3-CC41-56E0-DEF3-BED4FB6F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3EE2F-38DC-AA70-7A8B-17A952E73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76497-1E55-1806-2AD6-3632A1C81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26BDE-9E84-18C7-0A6A-23C015A2CC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4918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7F6D1-48DD-D967-F2EE-B1279FD1B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BB325-DE1A-1765-EF6B-3455E9058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E51FF-1588-F685-11C8-E73EE48C8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098C6-7A5A-DD09-D9A6-F5D2FB3B9E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8709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1481F-5603-B9BE-7E69-6FF0D19CC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DA5F6-5082-E21C-F0E1-21B34E6FE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B3D31-DCFD-CDC0-0962-223AF8D556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09AF1-F90E-34D5-00AF-0C7323D677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6733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ad2ShareTempla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190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bin"/><Relationship Id="rId3" Type="http://schemas.openxmlformats.org/officeDocument/2006/relationships/image" Target="../media/image12.bin"/><Relationship Id="rId7" Type="http://schemas.openxmlformats.org/officeDocument/2006/relationships/image" Target="../media/image16.bin"/><Relationship Id="rId12" Type="http://schemas.openxmlformats.org/officeDocument/2006/relationships/image" Target="../media/image21.bin"/><Relationship Id="rId2" Type="http://schemas.openxmlformats.org/officeDocument/2006/relationships/image" Target="../media/image1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bin"/><Relationship Id="rId11" Type="http://schemas.openxmlformats.org/officeDocument/2006/relationships/image" Target="../media/image20.bin"/><Relationship Id="rId5" Type="http://schemas.openxmlformats.org/officeDocument/2006/relationships/image" Target="../media/image14.bin"/><Relationship Id="rId10" Type="http://schemas.openxmlformats.org/officeDocument/2006/relationships/image" Target="../media/image19.bin"/><Relationship Id="rId4" Type="http://schemas.openxmlformats.org/officeDocument/2006/relationships/image" Target="../media/image13.bin"/><Relationship Id="rId9" Type="http://schemas.openxmlformats.org/officeDocument/2006/relationships/image" Target="../media/image18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a-2621-2515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a-2621-2515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a-2621-2515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a-2621-2515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a-2621-2515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a-2621-2515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a-2621-2515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a-2621-2515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a-2621-2515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a-2621-2515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55/a-2621-2515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00261-024-04701-1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00261-024-04701-1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00261-024-04701-1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00261-024-04701-1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00261-024-04701-1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bin"/><Relationship Id="rId3" Type="http://schemas.openxmlformats.org/officeDocument/2006/relationships/image" Target="../media/image40.bin"/><Relationship Id="rId7" Type="http://schemas.openxmlformats.org/officeDocument/2006/relationships/image" Target="../media/image44.bin"/><Relationship Id="rId2" Type="http://schemas.openxmlformats.org/officeDocument/2006/relationships/image" Target="../media/image39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bin"/><Relationship Id="rId5" Type="http://schemas.openxmlformats.org/officeDocument/2006/relationships/image" Target="../media/image42.bin"/><Relationship Id="rId4" Type="http://schemas.openxmlformats.org/officeDocument/2006/relationships/image" Target="../media/image41.bin"/><Relationship Id="rId9" Type="http://schemas.openxmlformats.org/officeDocument/2006/relationships/image" Target="../media/image21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bin"/><Relationship Id="rId3" Type="http://schemas.openxmlformats.org/officeDocument/2006/relationships/image" Target="../media/image46.bin"/><Relationship Id="rId7" Type="http://schemas.openxmlformats.org/officeDocument/2006/relationships/image" Target="../media/image50.bin"/><Relationship Id="rId12" Type="http://schemas.openxmlformats.org/officeDocument/2006/relationships/image" Target="../media/image21.bin"/><Relationship Id="rId2" Type="http://schemas.openxmlformats.org/officeDocument/2006/relationships/image" Target="../media/image4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bin"/><Relationship Id="rId11" Type="http://schemas.openxmlformats.org/officeDocument/2006/relationships/image" Target="../media/image20.bin"/><Relationship Id="rId5" Type="http://schemas.openxmlformats.org/officeDocument/2006/relationships/image" Target="../media/image48.bin"/><Relationship Id="rId10" Type="http://schemas.openxmlformats.org/officeDocument/2006/relationships/image" Target="../media/image53.bin"/><Relationship Id="rId4" Type="http://schemas.openxmlformats.org/officeDocument/2006/relationships/image" Target="../media/image47.bin"/><Relationship Id="rId9" Type="http://schemas.openxmlformats.org/officeDocument/2006/relationships/image" Target="../media/image52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jpe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bin"/><Relationship Id="rId13" Type="http://schemas.openxmlformats.org/officeDocument/2006/relationships/image" Target="../media/image20.bin"/><Relationship Id="rId3" Type="http://schemas.openxmlformats.org/officeDocument/2006/relationships/image" Target="../media/image62.bin"/><Relationship Id="rId7" Type="http://schemas.openxmlformats.org/officeDocument/2006/relationships/image" Target="../media/image66.bin"/><Relationship Id="rId12" Type="http://schemas.openxmlformats.org/officeDocument/2006/relationships/image" Target="../media/image71.bin"/><Relationship Id="rId2" Type="http://schemas.openxmlformats.org/officeDocument/2006/relationships/image" Target="../media/image6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bin"/><Relationship Id="rId11" Type="http://schemas.openxmlformats.org/officeDocument/2006/relationships/image" Target="../media/image70.bin"/><Relationship Id="rId5" Type="http://schemas.openxmlformats.org/officeDocument/2006/relationships/image" Target="../media/image64.bin"/><Relationship Id="rId10" Type="http://schemas.openxmlformats.org/officeDocument/2006/relationships/image" Target="../media/image69.bin"/><Relationship Id="rId4" Type="http://schemas.openxmlformats.org/officeDocument/2006/relationships/image" Target="../media/image63.bin"/><Relationship Id="rId9" Type="http://schemas.openxmlformats.org/officeDocument/2006/relationships/image" Target="../media/image68.bin"/><Relationship Id="rId14" Type="http://schemas.openxmlformats.org/officeDocument/2006/relationships/image" Target="../media/image21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bin"/><Relationship Id="rId13" Type="http://schemas.openxmlformats.org/officeDocument/2006/relationships/image" Target="../media/image20.bin"/><Relationship Id="rId3" Type="http://schemas.openxmlformats.org/officeDocument/2006/relationships/image" Target="../media/image73.bin"/><Relationship Id="rId7" Type="http://schemas.openxmlformats.org/officeDocument/2006/relationships/image" Target="../media/image77.bin"/><Relationship Id="rId12" Type="http://schemas.openxmlformats.org/officeDocument/2006/relationships/image" Target="../media/image82.bin"/><Relationship Id="rId2" Type="http://schemas.openxmlformats.org/officeDocument/2006/relationships/image" Target="../media/image7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bin"/><Relationship Id="rId11" Type="http://schemas.openxmlformats.org/officeDocument/2006/relationships/image" Target="../media/image81.bin"/><Relationship Id="rId5" Type="http://schemas.openxmlformats.org/officeDocument/2006/relationships/image" Target="../media/image75.bin"/><Relationship Id="rId10" Type="http://schemas.openxmlformats.org/officeDocument/2006/relationships/image" Target="../media/image80.bin"/><Relationship Id="rId4" Type="http://schemas.openxmlformats.org/officeDocument/2006/relationships/image" Target="../media/image74.bin"/><Relationship Id="rId9" Type="http://schemas.openxmlformats.org/officeDocument/2006/relationships/image" Target="../media/image79.bin"/><Relationship Id="rId14" Type="http://schemas.openxmlformats.org/officeDocument/2006/relationships/image" Target="../media/image21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98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 GE </a:t>
            </a:r>
            <a:r>
              <a:rPr lang="en-US" sz="1000" b="1" kern="0" spc="3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oncologie</a:t>
            </a:r>
            <a:r>
              <a:rPr lang="en-US" sz="1000" b="1" kern="0" spc="3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kern="0" spc="3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avond</a:t>
            </a:r>
            <a:r>
              <a:rPr lang="en-US" sz="1000" b="1" kern="0" spc="3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Grand Round – </a:t>
            </a:r>
            <a:r>
              <a:rPr lang="en-US" sz="1000" b="1" kern="0" spc="3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OncoNovo</a:t>
            </a:r>
            <a:r>
              <a:rPr lang="en-US" sz="1000" b="1" kern="0" spc="3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</a:t>
            </a:r>
            <a:r>
              <a:rPr lang="en-US" sz="32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</a:t>
            </a:r>
            <a:r>
              <a:rPr lang="en-US" sz="32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early rectal cancer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111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Jakob Kist – abdomen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radioloog</a:t>
            </a:r>
            <a:endParaRPr lang="en-US" sz="10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000" dirty="0">
              <a:solidFill>
                <a:srgbClr val="5F5F6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000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 UMC · 2026</a:t>
            </a:r>
            <a:endParaRPr lang="en-US" sz="1000" dirty="0"/>
          </a:p>
        </p:txBody>
      </p:sp>
      <p:pic>
        <p:nvPicPr>
          <p:cNvPr id="7" name="Afbeelding 6" descr="logo amsterdam umc - QualityZorg">
            <a:extLst>
              <a:ext uri="{FF2B5EF4-FFF2-40B4-BE49-F238E27FC236}">
                <a16:creationId xmlns:a16="http://schemas.microsoft.com/office/drawing/2014/main" id="{1DB86CFF-7D96-5A59-3888-03993A96F2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835" b="33030"/>
          <a:stretch>
            <a:fillRect/>
          </a:stretch>
        </p:blipFill>
        <p:spPr>
          <a:xfrm>
            <a:off x="3425013" y="4541049"/>
            <a:ext cx="2293974" cy="4110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FFD0E-A2D6-F897-76CE-A05B69B0C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97E65B50-AFD9-B412-F6E0-70450AB9D7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90" t="10587" r="33692" b="43487"/>
          <a:stretch>
            <a:fillRect/>
          </a:stretch>
        </p:blipFill>
        <p:spPr>
          <a:xfrm>
            <a:off x="1073648" y="1492250"/>
            <a:ext cx="1906570" cy="190657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70D3F470-33CE-9B84-4DCE-7455A2FEA76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3618715" y="1492250"/>
            <a:ext cx="1906570" cy="1906570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FDB8ACBB-9C7D-FFAC-509D-F0091891690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5000"/>
          </a:blip>
          <a:srcRect b="9907"/>
          <a:stretch>
            <a:fillRect/>
          </a:stretch>
        </p:blipFill>
        <p:spPr>
          <a:xfrm>
            <a:off x="6163782" y="1492250"/>
            <a:ext cx="1906570" cy="190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256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ABF51-E079-80CE-4713-4003ECE5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FC7937C4-1829-7850-6ECB-A70628363A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 l="35690" t="10587" r="33692" b="43487"/>
          <a:stretch>
            <a:fillRect/>
          </a:stretch>
        </p:blipFill>
        <p:spPr>
          <a:xfrm>
            <a:off x="1073648" y="1492250"/>
            <a:ext cx="1906570" cy="190657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3102C064-8465-0C5B-0272-682B59415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8715" y="1492250"/>
            <a:ext cx="1906570" cy="1906570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0EB9BD9C-7A1C-E61F-F38F-7BD40E436E4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5000"/>
          </a:blip>
          <a:srcRect b="9907"/>
          <a:stretch>
            <a:fillRect/>
          </a:stretch>
        </p:blipFill>
        <p:spPr>
          <a:xfrm>
            <a:off x="6163782" y="1492250"/>
            <a:ext cx="1906570" cy="190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15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96F352-587B-8DB6-51A6-110C36268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7FC8324C-8F8D-B461-28DA-03F9DB3A68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 l="35690" t="10587" r="33692" b="43487"/>
          <a:stretch>
            <a:fillRect/>
          </a:stretch>
        </p:blipFill>
        <p:spPr>
          <a:xfrm>
            <a:off x="1073648" y="1492250"/>
            <a:ext cx="1906570" cy="190657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ADDC9F84-AD4A-AE87-0A11-D8C94038B3B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3618715" y="1492250"/>
            <a:ext cx="1906570" cy="1906570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19590C91-AC45-A3AC-34F7-9FDFB2510C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9907"/>
          <a:stretch>
            <a:fillRect/>
          </a:stretch>
        </p:blipFill>
        <p:spPr>
          <a:xfrm>
            <a:off x="6163782" y="1492250"/>
            <a:ext cx="1906570" cy="190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21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B35DB-3930-320B-551D-B2AE02BFE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2546F427-F6D4-20DB-CB4C-9CA404FBDF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rcRect l="35690" t="10587" r="33692" b="43487"/>
          <a:stretch>
            <a:fillRect/>
          </a:stretch>
        </p:blipFill>
        <p:spPr>
          <a:xfrm>
            <a:off x="1073648" y="1492250"/>
            <a:ext cx="1906570" cy="190657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82481CA3-7763-E3EA-777F-67640F5E79C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3618715" y="1492250"/>
            <a:ext cx="1906570" cy="1906570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5D242A63-814F-272D-F9F8-BAF90310C2F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5000"/>
          </a:blip>
          <a:srcRect b="9907"/>
          <a:stretch>
            <a:fillRect/>
          </a:stretch>
        </p:blipFill>
        <p:spPr>
          <a:xfrm>
            <a:off x="6163782" y="1492250"/>
            <a:ext cx="1906570" cy="1906570"/>
          </a:xfrm>
          <a:prstGeom prst="rect">
            <a:avLst/>
          </a:prstGeom>
        </p:spPr>
      </p:pic>
      <p:pic>
        <p:nvPicPr>
          <p:cNvPr id="2" name="Afbeelding 1" descr="Naar één mdo-platform voor alle oncologische mdo's | Regionale  Oncologienetwerken">
            <a:extLst>
              <a:ext uri="{FF2B5EF4-FFF2-40B4-BE49-F238E27FC236}">
                <a16:creationId xmlns:a16="http://schemas.microsoft.com/office/drawing/2014/main" id="{9C327AE2-4AFA-D497-95EF-9070CF53C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492250"/>
            <a:ext cx="7772400" cy="204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14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66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27337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BVO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Scopie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elders: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coloncarcinoom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verdachte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laesie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rectum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elders: cT1-2N0M0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300" b="1" dirty="0">
              <a:solidFill>
                <a:srgbClr val="E0DF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4FDC881B-3B10-9762-4E74-8E5F1FB02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254" y="2247836"/>
            <a:ext cx="3309444" cy="2679906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6829E86-10B7-CBFC-255C-1699276C6A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389" y="2247836"/>
            <a:ext cx="3309444" cy="2726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722C75-0DB6-1593-2FCB-C0D5887D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555EC7-A718-B1EB-4D8B-A20677B1D1F4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27DA78-D201-E758-95CD-094FBECEA85D}"/>
              </a:ext>
            </a:extLst>
          </p:cNvPr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66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externe MRI</a:t>
            </a:r>
            <a:endParaRPr lang="en-US" sz="140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ED5184D-1D4B-41BC-0DC5-E4114D161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854" y="1424867"/>
            <a:ext cx="4225856" cy="3464633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A0E7F099-826C-3404-7E71-803CD183186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4896710" y="1507772"/>
            <a:ext cx="3977723" cy="311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31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B4371-1BFB-2A6D-8E15-5B093FBB5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26BFA0-D14A-8438-C5E8-E568F4E28FA2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494DF7-BE34-B655-74B6-800A38EA73EE}"/>
              </a:ext>
            </a:extLst>
          </p:cNvPr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66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externe MRI</a:t>
            </a:r>
            <a:endParaRPr lang="en-US" sz="140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BADB222-570C-B694-EACB-00AAA071964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70854" y="1424867"/>
            <a:ext cx="4225856" cy="3464633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A69693FC-A27D-278B-3CB3-079DF3B36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6710" y="1507772"/>
            <a:ext cx="3977723" cy="3115599"/>
          </a:xfrm>
          <a:prstGeom prst="rect">
            <a:avLst/>
          </a:prstGeom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DB75A5BB-E8B9-B357-9D55-19BEBA4A9BB9}"/>
              </a:ext>
            </a:extLst>
          </p:cNvPr>
          <p:cNvCxnSpPr>
            <a:cxnSpLocks/>
          </p:cNvCxnSpPr>
          <p:nvPr/>
        </p:nvCxnSpPr>
        <p:spPr>
          <a:xfrm>
            <a:off x="3585681" y="2938409"/>
            <a:ext cx="2784297" cy="83220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1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0F8BB-DB82-FCD0-AE6F-79A02E13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D95F63-1DFF-F29C-E7C7-2509EE71FB17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D94550E-4FD2-9735-6952-8397176C8A5C}"/>
              </a:ext>
            </a:extLst>
          </p:cNvPr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66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externe MRI</a:t>
            </a:r>
            <a:endParaRPr lang="en-US" sz="140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C0574ACA-AB90-768D-765B-D9C5141E726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70854" y="1424867"/>
            <a:ext cx="4225856" cy="3464633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214E9BBB-BA37-1402-5A18-631AE163195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4896710" y="1507772"/>
            <a:ext cx="3977723" cy="3115599"/>
          </a:xfrm>
          <a:prstGeom prst="rect">
            <a:avLst/>
          </a:prstGeom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A180EB0F-7EE7-D211-2D84-7EAC1730D30A}"/>
              </a:ext>
            </a:extLst>
          </p:cNvPr>
          <p:cNvCxnSpPr>
            <a:cxnSpLocks/>
          </p:cNvCxnSpPr>
          <p:nvPr/>
        </p:nvCxnSpPr>
        <p:spPr>
          <a:xfrm>
            <a:off x="3585681" y="2938409"/>
            <a:ext cx="2784297" cy="832207"/>
          </a:xfrm>
          <a:prstGeom prst="straightConnector1">
            <a:avLst/>
          </a:prstGeom>
          <a:ln w="57150">
            <a:solidFill>
              <a:srgbClr val="FF0000">
                <a:alpha val="20000"/>
              </a:srgb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hape 5">
            <a:extLst>
              <a:ext uri="{FF2B5EF4-FFF2-40B4-BE49-F238E27FC236}">
                <a16:creationId xmlns:a16="http://schemas.microsoft.com/office/drawing/2014/main" id="{0E72DE8C-3B8C-E470-46A7-1E2F6D4FB365}"/>
              </a:ext>
            </a:extLst>
          </p:cNvPr>
          <p:cNvSpPr/>
          <p:nvPr/>
        </p:nvSpPr>
        <p:spPr>
          <a:xfrm>
            <a:off x="2450958" y="2526030"/>
            <a:ext cx="4891503" cy="866270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0D1F1DC-5190-B77A-A969-F99A890BFD64}"/>
              </a:ext>
            </a:extLst>
          </p:cNvPr>
          <p:cNvSpPr/>
          <p:nvPr/>
        </p:nvSpPr>
        <p:spPr>
          <a:xfrm>
            <a:off x="3525109" y="265240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DAA45"/>
                </a:solidFill>
                <a:latin typeface="Calibri" pitchFamily="34" charset="0"/>
                <a:cs typeface="Calibri" pitchFamily="34" charset="-120"/>
              </a:rPr>
              <a:t>IDEE?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777EAF3-891C-0CC4-6FFE-64BCA25E45FA}"/>
              </a:ext>
            </a:extLst>
          </p:cNvPr>
          <p:cNvSpPr/>
          <p:nvPr/>
        </p:nvSpPr>
        <p:spPr>
          <a:xfrm>
            <a:off x="2450958" y="2571750"/>
            <a:ext cx="4891503" cy="954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20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Overweeg</a:t>
            </a:r>
            <a:r>
              <a:rPr lang="en-US" sz="20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herhalen</a:t>
            </a:r>
            <a:r>
              <a:rPr lang="en-US" sz="20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MRI </a:t>
            </a:r>
            <a:r>
              <a:rPr lang="en-US" sz="20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20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Bisacodyl </a:t>
            </a:r>
            <a:r>
              <a:rPr lang="en-US" sz="20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zetpil</a:t>
            </a:r>
            <a:r>
              <a:rPr lang="en-US" sz="20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5171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ACFC39-7271-E59E-FC8F-0FE83A584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0D811DB-D51F-5579-433B-C919BABBBA2D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914225-39F9-B4E6-E915-69C68D703506}"/>
              </a:ext>
            </a:extLst>
          </p:cNvPr>
          <p:cNvSpPr/>
          <p:nvPr/>
        </p:nvSpPr>
        <p:spPr>
          <a:xfrm>
            <a:off x="457200" y="960120"/>
            <a:ext cx="4114800" cy="241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66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MRI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bisacodyl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zetpil</a:t>
            </a:r>
            <a:endParaRPr lang="en-US" sz="1400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EA124AB-75F1-6353-03A8-6873D322D5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582806" y="406233"/>
            <a:ext cx="6103994" cy="4371507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19761B4-B845-D1EE-9189-20F440F590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02" y="1662141"/>
            <a:ext cx="3977723" cy="311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35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51C81B-7F38-32F9-C11A-B28918DCB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FFBB17-2303-A14F-E175-7579C76BF522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2400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C4E1202-4A16-0451-46DE-C4813EBB1E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25402" y="1662141"/>
            <a:ext cx="3977723" cy="3115599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DF3B20A-1098-7416-8978-CCC88D7CF3E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2806" y="406233"/>
            <a:ext cx="6103994" cy="437150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DBB392C-B1D3-CEA8-7DF9-A5A69BB4CAC2}"/>
              </a:ext>
            </a:extLst>
          </p:cNvPr>
          <p:cNvSpPr/>
          <p:nvPr/>
        </p:nvSpPr>
        <p:spPr>
          <a:xfrm>
            <a:off x="457200" y="960120"/>
            <a:ext cx="4114800" cy="241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66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MRI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bisacodyl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zetpil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84804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6251879" name="Rad2Sha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" y="762857"/>
            <a:ext cx="8905388" cy="3690991"/>
          </a:xfrm>
          <a:prstGeom prst="rect">
            <a:avLst/>
          </a:prstGeom>
        </p:spPr>
      </p:pic>
      <p:pic>
        <p:nvPicPr>
          <p:cNvPr id="2012786844" name="Rad2Sha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" y="762857"/>
            <a:ext cx="8905388" cy="3690991"/>
          </a:xfrm>
          <a:prstGeom prst="rect">
            <a:avLst/>
          </a:prstGeom>
        </p:spPr>
      </p:pic>
      <p:pic>
        <p:nvPicPr>
          <p:cNvPr id="457040120" name="Rad2Sha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" y="762857"/>
            <a:ext cx="8905388" cy="3690991"/>
          </a:xfrm>
          <a:prstGeom prst="rect">
            <a:avLst/>
          </a:prstGeom>
        </p:spPr>
      </p:pic>
      <p:pic>
        <p:nvPicPr>
          <p:cNvPr id="991567343" name="Rad2Sha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" y="762857"/>
            <a:ext cx="8905388" cy="3690991"/>
          </a:xfrm>
          <a:prstGeom prst="rect">
            <a:avLst/>
          </a:prstGeom>
        </p:spPr>
      </p:pic>
      <p:pic>
        <p:nvPicPr>
          <p:cNvPr id="1247361955" name="Rad2Sha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" y="762857"/>
            <a:ext cx="8905388" cy="3690991"/>
          </a:xfrm>
          <a:prstGeom prst="rect">
            <a:avLst/>
          </a:prstGeom>
        </p:spPr>
      </p:pic>
      <p:pic>
        <p:nvPicPr>
          <p:cNvPr id="1148185532" name="Rad2Sha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" y="762857"/>
            <a:ext cx="8905388" cy="3690991"/>
          </a:xfrm>
          <a:prstGeom prst="rect">
            <a:avLst/>
          </a:prstGeom>
        </p:spPr>
      </p:pic>
      <p:pic>
        <p:nvPicPr>
          <p:cNvPr id="1594039601" name="Rad2Sha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" y="762857"/>
            <a:ext cx="8905388" cy="3690991"/>
          </a:xfrm>
          <a:prstGeom prst="rect">
            <a:avLst/>
          </a:prstGeom>
        </p:spPr>
      </p:pic>
      <p:pic>
        <p:nvPicPr>
          <p:cNvPr id="1495767925" name="Rad2Sha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" y="762857"/>
            <a:ext cx="8905388" cy="3690991"/>
          </a:xfrm>
          <a:prstGeom prst="rect">
            <a:avLst/>
          </a:prstGeom>
        </p:spPr>
      </p:pic>
      <p:pic>
        <p:nvPicPr>
          <p:cNvPr id="363794550" name="Rad2Sha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" y="762857"/>
            <a:ext cx="8905388" cy="3690991"/>
          </a:xfrm>
          <a:prstGeom prst="rect">
            <a:avLst/>
          </a:prstGeom>
        </p:spPr>
      </p:pic>
      <p:pic>
        <p:nvPicPr>
          <p:cNvPr id="2" name="Afbeelding 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00" y="0"/>
            <a:ext cx="185738" cy="185738"/>
          </a:xfrm>
          <a:prstGeom prst="rect">
            <a:avLst/>
          </a:prstGeom>
        </p:spPr>
      </p:pic>
      <p:pic>
        <p:nvPicPr>
          <p:cNvPr id="3" name="Afbeelding 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000" y="0"/>
            <a:ext cx="185738" cy="185738"/>
          </a:xfrm>
          <a:prstGeom prst="rect">
            <a:avLst/>
          </a:prstGeom>
        </p:spPr>
      </p:pic>
      <p:sp>
        <p:nvSpPr>
          <p:cNvPr id="1413248037" name="Rad2ShareLabel 1"/>
          <p:cNvSpPr txBox="1"/>
          <p:nvPr/>
        </p:nvSpPr>
        <p:spPr>
          <a:xfrm>
            <a:off x="34346" y="4276769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1/9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254125451" name="Rad2ShareLabel 2"/>
          <p:cNvSpPr txBox="1"/>
          <p:nvPr/>
        </p:nvSpPr>
        <p:spPr>
          <a:xfrm>
            <a:off x="34346" y="4276769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2/9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839769640" name="Rad2ShareLabel 3"/>
          <p:cNvSpPr txBox="1"/>
          <p:nvPr/>
        </p:nvSpPr>
        <p:spPr>
          <a:xfrm>
            <a:off x="34346" y="4276769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3/9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328877342" name="Rad2ShareLabel 4"/>
          <p:cNvSpPr txBox="1"/>
          <p:nvPr/>
        </p:nvSpPr>
        <p:spPr>
          <a:xfrm>
            <a:off x="34346" y="4276769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4/9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57058782" name="Rad2ShareLabel 5"/>
          <p:cNvSpPr txBox="1"/>
          <p:nvPr/>
        </p:nvSpPr>
        <p:spPr>
          <a:xfrm>
            <a:off x="34346" y="4276769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5/9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497474363" name="Rad2ShareLabel 6"/>
          <p:cNvSpPr txBox="1"/>
          <p:nvPr/>
        </p:nvSpPr>
        <p:spPr>
          <a:xfrm>
            <a:off x="34346" y="4276769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6/9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319265264" name="Rad2ShareLabel 7"/>
          <p:cNvSpPr txBox="1"/>
          <p:nvPr/>
        </p:nvSpPr>
        <p:spPr>
          <a:xfrm>
            <a:off x="34346" y="4276769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7/9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387169933" name="Rad2ShareLabel 8"/>
          <p:cNvSpPr txBox="1"/>
          <p:nvPr/>
        </p:nvSpPr>
        <p:spPr>
          <a:xfrm>
            <a:off x="34346" y="4276769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8/9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724759951" name="Rad2ShareLabel 9"/>
          <p:cNvSpPr txBox="1"/>
          <p:nvPr/>
        </p:nvSpPr>
        <p:spPr>
          <a:xfrm>
            <a:off x="34346" y="4276769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9/9</a:t>
            </a:r>
            <a:endParaRPr lang="nl-NL" sz="13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86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278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2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8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04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7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12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567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87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7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361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5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877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18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47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5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039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6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47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767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6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26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794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75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169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203D0-9052-CB28-B05E-9414DC4DF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6532A1-0322-8B6E-A20F-3E3BD2B86178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240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4BCCB916-2B7B-B29F-6F47-F5D8E2426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9479"/>
            <a:ext cx="8294170" cy="3137852"/>
          </a:xfrm>
          <a:prstGeom prst="rect">
            <a:avLst/>
          </a:prstGeom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719A4A5C-481C-A3D6-7E5D-04A520ED1DD6}"/>
              </a:ext>
            </a:extLst>
          </p:cNvPr>
          <p:cNvSpPr/>
          <p:nvPr/>
        </p:nvSpPr>
        <p:spPr>
          <a:xfrm>
            <a:off x="3525109" y="265240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4DBFD14B-F050-FABB-2632-1704CE3990C8}"/>
              </a:ext>
            </a:extLst>
          </p:cNvPr>
          <p:cNvSpPr/>
          <p:nvPr/>
        </p:nvSpPr>
        <p:spPr>
          <a:xfrm>
            <a:off x="457200" y="960120"/>
            <a:ext cx="4114800" cy="241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66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MRI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bisacodyl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zetpil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73447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A148D8-7020-5E60-02C7-F3C44CC92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C82858-0345-C6CE-8053-F0D59F902A16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MDO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</a:t>
            </a:r>
            <a:endParaRPr lang="en-US" sz="240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88E4520-6ECB-7C25-8816-B2863C7B4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79479"/>
            <a:ext cx="8294170" cy="3137852"/>
          </a:xfrm>
          <a:prstGeom prst="rect">
            <a:avLst/>
          </a:prstGeom>
        </p:spPr>
      </p:pic>
      <p:sp>
        <p:nvSpPr>
          <p:cNvPr id="8" name="Shape 5">
            <a:extLst>
              <a:ext uri="{FF2B5EF4-FFF2-40B4-BE49-F238E27FC236}">
                <a16:creationId xmlns:a16="http://schemas.microsoft.com/office/drawing/2014/main" id="{DD2B7AEB-9626-2D9F-216C-01B7FC238B62}"/>
              </a:ext>
            </a:extLst>
          </p:cNvPr>
          <p:cNvSpPr/>
          <p:nvPr/>
        </p:nvSpPr>
        <p:spPr>
          <a:xfrm>
            <a:off x="3200401" y="2566998"/>
            <a:ext cx="2645596" cy="744650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F88977E-0715-6C08-CC35-6782F36E67A6}"/>
              </a:ext>
            </a:extLst>
          </p:cNvPr>
          <p:cNvSpPr/>
          <p:nvPr/>
        </p:nvSpPr>
        <p:spPr>
          <a:xfrm>
            <a:off x="3525109" y="265240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BEE89DB-27B9-B710-F768-54C7DBA1FFE8}"/>
              </a:ext>
            </a:extLst>
          </p:cNvPr>
          <p:cNvSpPr/>
          <p:nvPr/>
        </p:nvSpPr>
        <p:spPr>
          <a:xfrm>
            <a:off x="3200401" y="2491098"/>
            <a:ext cx="2645596" cy="954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0DFD8"/>
                </a:solidFill>
                <a:latin typeface="Calibri" pitchFamily="34" charset="0"/>
                <a:cs typeface="Calibri" pitchFamily="34" charset="-120"/>
              </a:rPr>
              <a:t>“</a:t>
            </a:r>
            <a:r>
              <a:rPr lang="en-US" sz="2000" b="1" dirty="0" err="1">
                <a:solidFill>
                  <a:srgbClr val="E0DFD8"/>
                </a:solidFill>
                <a:latin typeface="Calibri" pitchFamily="34" charset="0"/>
                <a:cs typeface="Calibri" pitchFamily="34" charset="-120"/>
              </a:rPr>
              <a:t>Waarschijnlijk</a:t>
            </a:r>
            <a:r>
              <a:rPr lang="en-US" sz="2000" b="1" dirty="0">
                <a:solidFill>
                  <a:srgbClr val="E0DFD8"/>
                </a:solidFill>
                <a:latin typeface="Calibri" pitchFamily="34" charset="0"/>
                <a:cs typeface="Calibri" pitchFamily="34" charset="-120"/>
              </a:rPr>
              <a:t> early T2”</a:t>
            </a:r>
            <a:endParaRPr lang="en-US" sz="20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05FC38C-D80C-3FC9-FA10-CCDC8A3E7684}"/>
              </a:ext>
            </a:extLst>
          </p:cNvPr>
          <p:cNvSpPr/>
          <p:nvPr/>
        </p:nvSpPr>
        <p:spPr>
          <a:xfrm>
            <a:off x="457200" y="960120"/>
            <a:ext cx="4114800" cy="241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66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MRI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bisacodyl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zetpil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72958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D58C9-561D-F64F-31E8-0AEAB27B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EB2285E-C756-5870-FFD2-D893635C9742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EID: </a:t>
            </a:r>
            <a:r>
              <a:rPr lang="en-US" sz="2400" b="1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de PA</a:t>
            </a:r>
            <a:endParaRPr lang="en-US" sz="2400" dirty="0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A53C1B41-18DE-4223-70F9-329B4510BC8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2431234" y="2096820"/>
            <a:ext cx="4281532" cy="94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495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DAB1B-EBB7-66AB-27BB-CE48FC8E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1854925-600D-F27D-D1C1-C167FE675ACC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EID: </a:t>
            </a:r>
            <a:r>
              <a:rPr lang="en-US" sz="2400" b="1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de PA</a:t>
            </a:r>
            <a:endParaRPr lang="en-US" sz="2400" dirty="0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D408B019-AFC0-307A-296F-6A23D4F45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234" y="2096820"/>
            <a:ext cx="4281532" cy="94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293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3ED33D-5754-7B38-088E-8270AE990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CB2AF53-6B24-786A-31A4-60E4E7CC4969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EID: </a:t>
            </a:r>
            <a:r>
              <a:rPr lang="en-US" sz="2400" b="1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de PA</a:t>
            </a:r>
            <a:endParaRPr lang="en-US" sz="2400" dirty="0"/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6B00C5DF-8236-BB99-39ED-285F25669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234" y="2096820"/>
            <a:ext cx="4281532" cy="94986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05B5ED90-3001-7654-1E3A-D668B7D3F0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026" t="84959" r="12869"/>
          <a:stretch>
            <a:fillRect/>
          </a:stretch>
        </p:blipFill>
        <p:spPr>
          <a:xfrm>
            <a:off x="5820668" y="2727019"/>
            <a:ext cx="892098" cy="41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8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</p:cBhvr>
                                      <p:by x="450000" y="4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9D213-CB18-53AD-CF0F-414F56F2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C46179-0C4C-CA4C-CE10-630D7F4AB824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EID: </a:t>
            </a:r>
            <a:r>
              <a:rPr lang="en-US" sz="2400" b="1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de PA</a:t>
            </a:r>
            <a:endParaRPr lang="en-US" sz="2400" dirty="0"/>
          </a:p>
        </p:txBody>
      </p:sp>
      <p:pic>
        <p:nvPicPr>
          <p:cNvPr id="3" name="image_0_0_0_1">
            <a:extLst>
              <a:ext uri="{FF2B5EF4-FFF2-40B4-BE49-F238E27FC236}">
                <a16:creationId xmlns:a16="http://schemas.microsoft.com/office/drawing/2014/main" id="{0DE95BEA-F11F-AED4-5159-15F10CE09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16" y="1458654"/>
            <a:ext cx="8406968" cy="296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0846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98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Early Rectal Cancer MRI
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Richtlijn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literatuur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ESGAR 2026: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T1/2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MRI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beperkt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ESGAR 2026 · PART I PRIMARY STAGING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80159"/>
            <a:ext cx="8229600" cy="1120176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599"/>
            <a:ext cx="7772400" cy="1028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Although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some recent data suggest that high-resolution MRI may identify early 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tumours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eligible for local excision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the panel agreed that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endorectal ultrasound remains preferred to stage early 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tumours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given its superior performance compared to MRI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ESGAR Rectal Imaging Guideline Group, Eur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Radiol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ESGAR Rectal Imaging Guideline Group. Eur Radiol 2026. doi: 10.1007/s00330-025-12274-w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859468FC-61E5-C9F6-BC47-A2D7751E5AE6}"/>
              </a:ext>
            </a:extLst>
          </p:cNvPr>
          <p:cNvSpPr/>
          <p:nvPr/>
        </p:nvSpPr>
        <p:spPr>
          <a:xfrm>
            <a:off x="457200" y="2590823"/>
            <a:ext cx="8229600" cy="1120176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91EBDBA4-9352-BE9B-C72E-E20610238656}"/>
              </a:ext>
            </a:extLst>
          </p:cNvPr>
          <p:cNvSpPr/>
          <p:nvPr/>
        </p:nvSpPr>
        <p:spPr>
          <a:xfrm>
            <a:off x="685800" y="2682263"/>
            <a:ext cx="7772400" cy="1028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However, current guidelines (including updated ESGAR recommendations) still question MRI's accuracy and reproducibility for this distinction.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﻿﻿Practical approach: Tumors confined to the rectal wall are generally classified as T1-2 on MRI.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/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RadiologyAssistant</a:t>
            </a:r>
            <a:r>
              <a:rPr lang="en-US" sz="1100" dirty="0">
                <a:solidFill>
                  <a:srgbClr val="9A99A0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</a:t>
            </a:r>
            <a:r>
              <a:rPr lang="en-US" sz="1100" dirty="0" err="1">
                <a:solidFill>
                  <a:srgbClr val="9A99A0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radiologyassistant.nl</a:t>
            </a:r>
            <a:r>
              <a:rPr lang="en-US" sz="1100" dirty="0">
                <a:solidFill>
                  <a:srgbClr val="9A99A0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/abdomen/rectum/rectal-cancer-mr-staging-1-1#t-category-t1t2-tumors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575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8FA972-083B-D041-EB19-55B4AA21E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496D8F6-3174-0606-968B-A461BFEEE65D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ESGAR 2026: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T1/2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MRI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beperkt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436B16-4CFF-B7EF-3A22-3F8407523E6E}"/>
              </a:ext>
            </a:extLst>
          </p:cNvPr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ESGAR 2026 · PART I PRIMARY STAGING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BD5243-15E4-F70A-82A7-C9F8E01CB3ED}"/>
              </a:ext>
            </a:extLst>
          </p:cNvPr>
          <p:cNvSpPr/>
          <p:nvPr/>
        </p:nvSpPr>
        <p:spPr>
          <a:xfrm>
            <a:off x="457200" y="1280159"/>
            <a:ext cx="8229600" cy="1120176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B2D816F-AD4A-F5EE-4B4E-00FBB8D99D03}"/>
              </a:ext>
            </a:extLst>
          </p:cNvPr>
          <p:cNvSpPr/>
          <p:nvPr/>
        </p:nvSpPr>
        <p:spPr>
          <a:xfrm>
            <a:off x="68580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Although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some recent data suggest that high-resolution MRI may identify early 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tumours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eligible for local excision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the panel agreed that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endorectal ultrasound remains preferred to stage early 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tumours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given its superior performance compared to MRI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ESGAR Rectal Imaging Guideline Group, Eur Radiol 2026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87792E8-352C-6AF9-05D6-18DB0AC9FBFE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ESGAR Rectal Imaging Guideline Group. Eur Radiol 2026. doi: 10.1007/s00330-025-12274-w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ECDA5C67-F1BC-1FF5-DFEA-A74D9DD096BF}"/>
              </a:ext>
            </a:extLst>
          </p:cNvPr>
          <p:cNvSpPr/>
          <p:nvPr/>
        </p:nvSpPr>
        <p:spPr>
          <a:xfrm>
            <a:off x="457200" y="2590823"/>
            <a:ext cx="8229600" cy="1120176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1CDD7F21-8AF7-5EFC-013E-1438F9D8555C}"/>
              </a:ext>
            </a:extLst>
          </p:cNvPr>
          <p:cNvSpPr/>
          <p:nvPr/>
        </p:nvSpPr>
        <p:spPr>
          <a:xfrm>
            <a:off x="685800" y="2682264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However, current guidelines (including updated ESGAR recommendations) still question MRI's accuracy and reproducibility for this distinction.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﻿﻿Practical approach: Tumors confined to the rectal wall are generally classified as T1-2 on MRI.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/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RadiologyAssistant</a:t>
            </a:r>
            <a:r>
              <a:rPr lang="en-US" sz="1100" dirty="0">
                <a:solidFill>
                  <a:srgbClr val="9A99A0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</a:t>
            </a:r>
            <a:r>
              <a:rPr lang="en-US" sz="1100" dirty="0" err="1">
                <a:solidFill>
                  <a:srgbClr val="9A99A0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radiologyassistant.nl</a:t>
            </a:r>
            <a:r>
              <a:rPr lang="en-US" sz="1100" dirty="0">
                <a:solidFill>
                  <a:srgbClr val="9A99A0">
                    <a:alpha val="2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/abdomen/rectum/rectal-cancer-mr-staging-1-1#t-category-t1t2-tumors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9D6EAD32-C9BA-A1B7-4CD3-A44D839E3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400" y="1069960"/>
            <a:ext cx="5537200" cy="3556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11219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B587D-0160-0F94-FD90-C2F863D0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02DD9B8-7D78-3CBC-DF8F-F7F4F424E38A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ESGAR 2026: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T1/2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MRI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beperkt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D2FFE0B-A167-5ADB-7F68-41D64D8FE10C}"/>
              </a:ext>
            </a:extLst>
          </p:cNvPr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ESGAR 2026 · PART I PRIMARY STAGING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A7C20E-D27B-11F0-8DF3-D8F5600C36EA}"/>
              </a:ext>
            </a:extLst>
          </p:cNvPr>
          <p:cNvSpPr/>
          <p:nvPr/>
        </p:nvSpPr>
        <p:spPr>
          <a:xfrm>
            <a:off x="457200" y="1280159"/>
            <a:ext cx="8229600" cy="1120176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B5EE4B2-2AD3-6479-3219-77DAA8D9A1E7}"/>
              </a:ext>
            </a:extLst>
          </p:cNvPr>
          <p:cNvSpPr/>
          <p:nvPr/>
        </p:nvSpPr>
        <p:spPr>
          <a:xfrm>
            <a:off x="68580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Although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some recent data suggest that high-resolution MRI may identify early 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tumours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eligible for local excision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the panel agreed that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endorectal ultrasound remains preferred to stage early </a:t>
            </a:r>
            <a:r>
              <a:rPr kumimoji="0" lang="en-US" sz="1400" b="1" i="1" u="none" strike="noStrike" kern="1200" cap="none" spc="0" normalizeH="0" baseline="0" noProof="0" dirty="0" err="1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tumours</a:t>
            </a: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kumimoji="0" lang="en-US" sz="1400" b="0" u="none" strike="noStrike" kern="1200" cap="none" spc="0" normalizeH="0" baseline="0" noProof="0" dirty="0">
                <a:ln>
                  <a:noFill/>
                </a:ln>
                <a:solidFill>
                  <a:srgbClr val="E0DFD8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given its superior performance compared to MRI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2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 ESGAR Rectal Imaging Guideline Group, Eur Radiol 2026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B0C6822-2AC8-8523-0B63-C5E3A083CED3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ESGAR Rectal Imaging Guideline Group. Eur Radiol 2026. doi: 10.1007/s00330-025-12274-w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AE485AAC-C209-3DB5-2B17-F8B67EAD7899}"/>
              </a:ext>
            </a:extLst>
          </p:cNvPr>
          <p:cNvSpPr/>
          <p:nvPr/>
        </p:nvSpPr>
        <p:spPr>
          <a:xfrm>
            <a:off x="457200" y="2590823"/>
            <a:ext cx="8229600" cy="1120176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742EC94-79AA-99A8-BB29-8148C85E01FC}"/>
              </a:ext>
            </a:extLst>
          </p:cNvPr>
          <p:cNvSpPr/>
          <p:nvPr/>
        </p:nvSpPr>
        <p:spPr>
          <a:xfrm>
            <a:off x="685800" y="2682263"/>
            <a:ext cx="7772400" cy="1028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However, current guidelines (including updated ESGAR recommendations) still question MRI's accuracy and reproducibility for this distinction.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﻿﻿Practical approach: Tumors confined to the rectal wall are generally classified as T1-2 on MRI.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/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RadiologyAssistant</a:t>
            </a:r>
            <a:r>
              <a:rPr lang="en-US" sz="1100" dirty="0">
                <a:solidFill>
                  <a:srgbClr val="9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https://</a:t>
            </a:r>
            <a:r>
              <a:rPr lang="en-US" sz="1100" dirty="0" err="1">
                <a:solidFill>
                  <a:srgbClr val="9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radiologyassistant.nl</a:t>
            </a:r>
            <a:r>
              <a:rPr lang="en-US" sz="1100" dirty="0">
                <a:solidFill>
                  <a:srgbClr val="9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/abdomen/rectum/rectal-cancer-mr-staging-1-1#t-category-t1t2-tumors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0923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B05A0-4FD3-DAE2-7C52-084DA3295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EC77F2-BEA7-2B33-264E-7AD1AFD9C347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 der Schee et al: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diagnostische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accuratesse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selectie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EID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F159765C-BE8E-3B20-44F4-F901769C07CE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defRPr/>
            </a:pP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Van der Schee et al. Endoscopy 2025</a:t>
            </a:r>
            <a:r>
              <a:rPr lang="en-US" sz="800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>
              <a:solidFill>
                <a:prstClr val="black"/>
              </a:solidFill>
            </a:endParaRPr>
          </a:p>
        </p:txBody>
      </p:sp>
      <p:grpSp>
        <p:nvGrpSpPr>
          <p:cNvPr id="17" name="Groep 16">
            <a:extLst>
              <a:ext uri="{FF2B5EF4-FFF2-40B4-BE49-F238E27FC236}">
                <a16:creationId xmlns:a16="http://schemas.microsoft.com/office/drawing/2014/main" id="{600B37AF-C38F-6250-3793-E50318EB4691}"/>
              </a:ext>
            </a:extLst>
          </p:cNvPr>
          <p:cNvGrpSpPr/>
          <p:nvPr/>
        </p:nvGrpSpPr>
        <p:grpSpPr>
          <a:xfrm>
            <a:off x="1049099" y="1173180"/>
            <a:ext cx="7045802" cy="2797140"/>
            <a:chOff x="2371493" y="1217299"/>
            <a:chExt cx="4016387" cy="1594481"/>
          </a:xfrm>
        </p:grpSpPr>
        <p:pic>
          <p:nvPicPr>
            <p:cNvPr id="15" name="Afbeelding 14">
              <a:extLst>
                <a:ext uri="{FF2B5EF4-FFF2-40B4-BE49-F238E27FC236}">
                  <a16:creationId xmlns:a16="http://schemas.microsoft.com/office/drawing/2014/main" id="{6D415684-CEAB-4CC7-9A59-282CC37CD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4945"/>
            <a:stretch>
              <a:fillRect/>
            </a:stretch>
          </p:blipFill>
          <p:spPr>
            <a:xfrm>
              <a:off x="2371493" y="2263140"/>
              <a:ext cx="4016387" cy="548640"/>
            </a:xfrm>
            <a:prstGeom prst="rect">
              <a:avLst/>
            </a:prstGeom>
          </p:spPr>
        </p:pic>
        <p:pic>
          <p:nvPicPr>
            <p:cNvPr id="16" name="Afbeelding 15">
              <a:extLst>
                <a:ext uri="{FF2B5EF4-FFF2-40B4-BE49-F238E27FC236}">
                  <a16:creationId xmlns:a16="http://schemas.microsoft.com/office/drawing/2014/main" id="{CA1DDA01-86D5-21C4-4B1A-7F785954C2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71286"/>
            <a:stretch>
              <a:fillRect/>
            </a:stretch>
          </p:blipFill>
          <p:spPr>
            <a:xfrm>
              <a:off x="2371493" y="1217299"/>
              <a:ext cx="4016387" cy="10463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05608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D7F0A-C948-B153-9D40-60DFF7DB1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A866C0-66E0-2B0A-6F72-CA8E34F7FCFE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 der Schee et al: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diagnostische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accuratesse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selectie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EID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F73EDC-3CAD-79D5-8B02-13EAF78FA354}"/>
              </a:ext>
            </a:extLst>
          </p:cNvPr>
          <p:cNvSpPr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= 244 · 12 RADIOLOGEN · 2 ACADEMISCHE CENTRA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ep 11">
            <a:extLst>
              <a:ext uri="{FF2B5EF4-FFF2-40B4-BE49-F238E27FC236}">
                <a16:creationId xmlns:a16="http://schemas.microsoft.com/office/drawing/2014/main" id="{75AEA05E-77BF-82F5-E3D6-74942E206F46}"/>
              </a:ext>
            </a:extLst>
          </p:cNvPr>
          <p:cNvGrpSpPr/>
          <p:nvPr/>
        </p:nvGrpSpPr>
        <p:grpSpPr>
          <a:xfrm>
            <a:off x="1720920" y="3246120"/>
            <a:ext cx="5702160" cy="1188720"/>
            <a:chOff x="1782566" y="3246120"/>
            <a:chExt cx="5702160" cy="118872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006CB2A1-C500-57C5-2ED8-C3724F5BC58E}"/>
                </a:ext>
              </a:extLst>
            </p:cNvPr>
            <p:cNvSpPr/>
            <p:nvPr/>
          </p:nvSpPr>
          <p:spPr>
            <a:xfrm>
              <a:off x="1782566" y="3246120"/>
              <a:ext cx="2560320" cy="1188720"/>
            </a:xfrm>
            <a:prstGeom prst="rect">
              <a:avLst/>
            </a:prstGeom>
            <a:solidFill>
              <a:srgbClr val="1A1C25"/>
            </a:solidFill>
            <a:ln/>
          </p:spPr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D3796FD8-902F-45D4-F1DD-7E4CBB3019F2}"/>
                </a:ext>
              </a:extLst>
            </p:cNvPr>
            <p:cNvSpPr/>
            <p:nvPr/>
          </p:nvSpPr>
          <p:spPr>
            <a:xfrm>
              <a:off x="1782566" y="3291840"/>
              <a:ext cx="2560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CC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81%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A1E4CDFD-F1E9-C8E8-7E01-FFEAFFC5CC16}"/>
                </a:ext>
              </a:extLst>
            </p:cNvPr>
            <p:cNvSpPr/>
            <p:nvPr/>
          </p:nvSpPr>
          <p:spPr>
            <a:xfrm>
              <a:off x="1782566" y="388620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0DFD8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Expert radioloog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E61EA450-E06C-68E9-9FF3-D5754BFCA4B0}"/>
                </a:ext>
              </a:extLst>
            </p:cNvPr>
            <p:cNvSpPr/>
            <p:nvPr/>
          </p:nvSpPr>
          <p:spPr>
            <a:xfrm>
              <a:off x="1782566" y="4114800"/>
              <a:ext cx="2560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9A99A0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(95%CI 75–86)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9734562B-34D8-2BA5-0F4A-C6E1986D33B7}"/>
                </a:ext>
              </a:extLst>
            </p:cNvPr>
            <p:cNvSpPr/>
            <p:nvPr/>
          </p:nvSpPr>
          <p:spPr>
            <a:xfrm>
              <a:off x="4924406" y="3246120"/>
              <a:ext cx="2560320" cy="1188720"/>
            </a:xfrm>
            <a:prstGeom prst="rect">
              <a:avLst/>
            </a:prstGeom>
            <a:solidFill>
              <a:srgbClr val="1A1C25"/>
            </a:solidFill>
            <a:ln/>
          </p:spPr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E4A296DA-64DF-6E02-A74B-045F0C5780E9}"/>
                </a:ext>
              </a:extLst>
            </p:cNvPr>
            <p:cNvSpPr/>
            <p:nvPr/>
          </p:nvSpPr>
          <p:spPr>
            <a:xfrm>
              <a:off x="4924406" y="3291840"/>
              <a:ext cx="2560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CC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78%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90D397B6-D273-F811-1125-55D0AC346B0F}"/>
                </a:ext>
              </a:extLst>
            </p:cNvPr>
            <p:cNvSpPr/>
            <p:nvPr/>
          </p:nvSpPr>
          <p:spPr>
            <a:xfrm>
              <a:off x="4924406" y="388620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0DFD8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Getrainde radiologen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1581927E-7267-3D3D-9126-347182EBAF10}"/>
                </a:ext>
              </a:extLst>
            </p:cNvPr>
            <p:cNvSpPr/>
            <p:nvPr/>
          </p:nvSpPr>
          <p:spPr>
            <a:xfrm>
              <a:off x="4924406" y="4114800"/>
              <a:ext cx="2560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9A99A0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(95%CI 72–83)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Text 34">
            <a:extLst>
              <a:ext uri="{FF2B5EF4-FFF2-40B4-BE49-F238E27FC236}">
                <a16:creationId xmlns:a16="http://schemas.microsoft.com/office/drawing/2014/main" id="{709F8079-A1D7-E976-010A-927FD2001EA4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defRPr/>
            </a:pP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Van der Schee et al. Endoscopy 2025</a:t>
            </a:r>
            <a:r>
              <a:rPr lang="en-US" sz="800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>
              <a:solidFill>
                <a:prstClr val="black"/>
              </a:solidFill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48E8DB1A-CCE2-9CF9-24FA-7869CAA037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75" t="3056" r="4038" b="48757"/>
          <a:stretch>
            <a:fillRect/>
          </a:stretch>
        </p:blipFill>
        <p:spPr>
          <a:xfrm>
            <a:off x="154113" y="1261231"/>
            <a:ext cx="4034802" cy="1802009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0546A8DD-C8DD-18C4-F6A9-AF78BE77D4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89" t="53317" r="3524" b="4147"/>
          <a:stretch>
            <a:fillRect/>
          </a:stretch>
        </p:blipFill>
        <p:spPr>
          <a:xfrm>
            <a:off x="4471396" y="1262002"/>
            <a:ext cx="4518491" cy="180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324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12D071-4C4A-A2BC-D82F-34CA416D3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4A802D-6B8D-FC6B-117B-D7A1EB89B6DA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 der Schee et al: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diagnostische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accuratesse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selectie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EID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0290D10-7DC6-56B3-FB01-81A67FF802D8}"/>
              </a:ext>
            </a:extLst>
          </p:cNvPr>
          <p:cNvSpPr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= 244 · 12 RADIOLOGEN · 2 ACADEMISCHE CENTRA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2" name="Groep 11">
            <a:extLst>
              <a:ext uri="{FF2B5EF4-FFF2-40B4-BE49-F238E27FC236}">
                <a16:creationId xmlns:a16="http://schemas.microsoft.com/office/drawing/2014/main" id="{912E1DE5-66F0-B8E3-4AE3-0F9C3108C84D}"/>
              </a:ext>
            </a:extLst>
          </p:cNvPr>
          <p:cNvGrpSpPr/>
          <p:nvPr/>
        </p:nvGrpSpPr>
        <p:grpSpPr>
          <a:xfrm>
            <a:off x="1720920" y="3246120"/>
            <a:ext cx="5702160" cy="1188720"/>
            <a:chOff x="1782566" y="3246120"/>
            <a:chExt cx="5702160" cy="1188720"/>
          </a:xfrm>
        </p:grpSpPr>
        <p:sp>
          <p:nvSpPr>
            <p:cNvPr id="4" name="Shape 2">
              <a:extLst>
                <a:ext uri="{FF2B5EF4-FFF2-40B4-BE49-F238E27FC236}">
                  <a16:creationId xmlns:a16="http://schemas.microsoft.com/office/drawing/2014/main" id="{9F9480CA-B744-2638-BC7F-FB9A68179D07}"/>
                </a:ext>
              </a:extLst>
            </p:cNvPr>
            <p:cNvSpPr/>
            <p:nvPr/>
          </p:nvSpPr>
          <p:spPr>
            <a:xfrm>
              <a:off x="1782566" y="3246120"/>
              <a:ext cx="2560320" cy="1188720"/>
            </a:xfrm>
            <a:prstGeom prst="rect">
              <a:avLst/>
            </a:prstGeom>
            <a:solidFill>
              <a:srgbClr val="1A1C25"/>
            </a:solidFill>
            <a:ln/>
          </p:spPr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22E51CFB-832D-AA97-B6D4-DBC75E16F424}"/>
                </a:ext>
              </a:extLst>
            </p:cNvPr>
            <p:cNvSpPr/>
            <p:nvPr/>
          </p:nvSpPr>
          <p:spPr>
            <a:xfrm>
              <a:off x="1782566" y="3291840"/>
              <a:ext cx="2560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CC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81%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DC0A8722-5914-6B58-2008-527BB6F932CE}"/>
                </a:ext>
              </a:extLst>
            </p:cNvPr>
            <p:cNvSpPr/>
            <p:nvPr/>
          </p:nvSpPr>
          <p:spPr>
            <a:xfrm>
              <a:off x="1782566" y="388620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0DFD8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Expert radioloog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1A8E4F9F-EFB0-0DC9-C77B-FE574F7B17C8}"/>
                </a:ext>
              </a:extLst>
            </p:cNvPr>
            <p:cNvSpPr/>
            <p:nvPr/>
          </p:nvSpPr>
          <p:spPr>
            <a:xfrm>
              <a:off x="1782566" y="4114800"/>
              <a:ext cx="2560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9A99A0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(95%CI 75–86)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Shape 6">
              <a:extLst>
                <a:ext uri="{FF2B5EF4-FFF2-40B4-BE49-F238E27FC236}">
                  <a16:creationId xmlns:a16="http://schemas.microsoft.com/office/drawing/2014/main" id="{54185673-6A3D-C73A-7E9D-84C88C63C47D}"/>
                </a:ext>
              </a:extLst>
            </p:cNvPr>
            <p:cNvSpPr/>
            <p:nvPr/>
          </p:nvSpPr>
          <p:spPr>
            <a:xfrm>
              <a:off x="4924406" y="3246120"/>
              <a:ext cx="2560320" cy="1188720"/>
            </a:xfrm>
            <a:prstGeom prst="rect">
              <a:avLst/>
            </a:prstGeom>
            <a:solidFill>
              <a:srgbClr val="1A1C25"/>
            </a:solidFill>
            <a:ln/>
          </p:spPr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65670DEC-4749-A272-5AC9-265F26503D79}"/>
                </a:ext>
              </a:extLst>
            </p:cNvPr>
            <p:cNvSpPr/>
            <p:nvPr/>
          </p:nvSpPr>
          <p:spPr>
            <a:xfrm>
              <a:off x="4924406" y="3291840"/>
              <a:ext cx="256032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CC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78%</a:t>
              </a:r>
              <a:endPara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378BB75C-6B66-048E-765A-46402DF9B58B}"/>
                </a:ext>
              </a:extLst>
            </p:cNvPr>
            <p:cNvSpPr/>
            <p:nvPr/>
          </p:nvSpPr>
          <p:spPr>
            <a:xfrm>
              <a:off x="4924406" y="3886200"/>
              <a:ext cx="256032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E0DFD8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Getrainde radiologen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09BE3FFB-7C5C-B5FC-AF04-164D51F550E8}"/>
                </a:ext>
              </a:extLst>
            </p:cNvPr>
            <p:cNvSpPr/>
            <p:nvPr/>
          </p:nvSpPr>
          <p:spPr>
            <a:xfrm>
              <a:off x="4924406" y="4114800"/>
              <a:ext cx="25603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9A99A0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(95%CI 72–83)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Text 34">
            <a:extLst>
              <a:ext uri="{FF2B5EF4-FFF2-40B4-BE49-F238E27FC236}">
                <a16:creationId xmlns:a16="http://schemas.microsoft.com/office/drawing/2014/main" id="{AAD19ED3-1DDC-AC4A-962F-E9A7BC1B7302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defRPr/>
            </a:pP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Van der Schee et al. Endoscopy 2025</a:t>
            </a:r>
            <a:r>
              <a:rPr lang="en-US" sz="800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>
              <a:solidFill>
                <a:prstClr val="black"/>
              </a:solidFill>
            </a:endParaRP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595FE0EC-4839-3C34-ACC1-1E15E31F57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75" t="3056" r="4038" b="48757"/>
          <a:stretch>
            <a:fillRect/>
          </a:stretch>
        </p:blipFill>
        <p:spPr>
          <a:xfrm>
            <a:off x="154113" y="1261231"/>
            <a:ext cx="4034802" cy="1802009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2D6EB20A-988B-5652-41E4-43044C6ECE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89" t="53317" r="3524" b="4147"/>
          <a:stretch>
            <a:fillRect/>
          </a:stretch>
        </p:blipFill>
        <p:spPr>
          <a:xfrm>
            <a:off x="4471396" y="1262002"/>
            <a:ext cx="4518491" cy="1801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47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B391E-A524-12D8-9315-F902E118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F08E3E-B33E-D598-06F0-8D2A7659A100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 der Schee et al: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diagnostische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accuratesse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selectie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EID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01C58B-D7C3-6B29-DDA0-051BEF5CED93}"/>
              </a:ext>
            </a:extLst>
          </p:cNvPr>
          <p:cNvSpPr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= 244 · 12 RADIOLOGEN · 2 ACADEMISCHE CENTRA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92A4AF7-B764-4882-E72F-0D79A98EEDB9}"/>
              </a:ext>
            </a:extLst>
          </p:cNvPr>
          <p:cNvSpPr/>
          <p:nvPr/>
        </p:nvSpPr>
        <p:spPr>
          <a:xfrm>
            <a:off x="457199" y="1776827"/>
            <a:ext cx="4895636" cy="829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Sensitiviteit &amp; specificiteit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53BC1D8-4A0D-3632-695B-997695241051}"/>
              </a:ext>
            </a:extLst>
          </p:cNvPr>
          <p:cNvSpPr/>
          <p:nvPr/>
        </p:nvSpPr>
        <p:spPr>
          <a:xfrm>
            <a:off x="457199" y="2268226"/>
            <a:ext cx="73434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D781B1F-FD13-91E3-D112-12FF5C1A4008}"/>
              </a:ext>
            </a:extLst>
          </p:cNvPr>
          <p:cNvSpPr/>
          <p:nvPr/>
        </p:nvSpPr>
        <p:spPr>
          <a:xfrm>
            <a:off x="1191544" y="2271617"/>
            <a:ext cx="2203036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Sensitiviteit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E398A91-7162-21B7-0426-34D1F494F710}"/>
              </a:ext>
            </a:extLst>
          </p:cNvPr>
          <p:cNvSpPr/>
          <p:nvPr/>
        </p:nvSpPr>
        <p:spPr>
          <a:xfrm>
            <a:off x="3482938" y="2290932"/>
            <a:ext cx="391445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15% overstaging → mist locale excisie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D0A48B0-511E-0609-6021-A5185E958D8E}"/>
              </a:ext>
            </a:extLst>
          </p:cNvPr>
          <p:cNvSpPr/>
          <p:nvPr/>
        </p:nvSpPr>
        <p:spPr>
          <a:xfrm>
            <a:off x="457199" y="2652274"/>
            <a:ext cx="73434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B887856-E953-1BCF-5274-B2DB49DB44B7}"/>
              </a:ext>
            </a:extLst>
          </p:cNvPr>
          <p:cNvSpPr/>
          <p:nvPr/>
        </p:nvSpPr>
        <p:spPr>
          <a:xfrm>
            <a:off x="1191544" y="2643721"/>
            <a:ext cx="2203036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Specificiteit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EDB0925-2F67-6211-31D9-115463F8D6B8}"/>
              </a:ext>
            </a:extLst>
          </p:cNvPr>
          <p:cNvSpPr/>
          <p:nvPr/>
        </p:nvSpPr>
        <p:spPr>
          <a:xfrm>
            <a:off x="3482938" y="2652274"/>
            <a:ext cx="391445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31% understaging → toch TME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nodig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E79A92D-DD1F-4F9A-3D77-88733A177916}"/>
              </a:ext>
            </a:extLst>
          </p:cNvPr>
          <p:cNvSpPr/>
          <p:nvPr/>
        </p:nvSpPr>
        <p:spPr>
          <a:xfrm>
            <a:off x="457199" y="3036322"/>
            <a:ext cx="73434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9661D18-7B1F-2764-0A41-988AD927A0DD}"/>
              </a:ext>
            </a:extLst>
          </p:cNvPr>
          <p:cNvSpPr/>
          <p:nvPr/>
        </p:nvSpPr>
        <p:spPr>
          <a:xfrm>
            <a:off x="1191544" y="3022606"/>
            <a:ext cx="2203036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Sens. T1 subgroep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162BBC5-0FD7-964B-24AE-755EE95A4816}"/>
              </a:ext>
            </a:extLst>
          </p:cNvPr>
          <p:cNvSpPr/>
          <p:nvPr/>
        </p:nvSpPr>
        <p:spPr>
          <a:xfrm>
            <a:off x="3482938" y="3050500"/>
            <a:ext cx="4654194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Slechts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9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pT1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overstaging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DB135C86-1B09-AA12-3733-6F2E5A806DDA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Van </a:t>
            </a:r>
            <a:r>
              <a:rPr kumimoji="0" 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der Schee et al. Endoscopy 2025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2DCF7214-9466-9209-E172-A1452AFE6062}"/>
              </a:ext>
            </a:extLst>
          </p:cNvPr>
          <p:cNvSpPr/>
          <p:nvPr/>
        </p:nvSpPr>
        <p:spPr>
          <a:xfrm>
            <a:off x="367990" y="3050500"/>
            <a:ext cx="6423103" cy="952788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823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80BCD-7DF0-B93F-9534-D8184AF1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89C164-5D13-2700-8510-2C781F7F422B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 der Schee et al: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diagnostische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accuratesse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selectie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EID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0FDA05-8647-6F06-3BBC-A52A5D8CFDF9}"/>
              </a:ext>
            </a:extLst>
          </p:cNvPr>
          <p:cNvSpPr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= 244 · 12 RADIOLOGEN · 2 ACADEMISCHE CENTRA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9530441-66C8-875B-1F72-B863E4840920}"/>
              </a:ext>
            </a:extLst>
          </p:cNvPr>
          <p:cNvSpPr/>
          <p:nvPr/>
        </p:nvSpPr>
        <p:spPr>
          <a:xfrm>
            <a:off x="457199" y="1776827"/>
            <a:ext cx="4895636" cy="829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Sensitiviteit &amp; specificiteit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01BE682-33BE-8799-8160-883D34A4C916}"/>
              </a:ext>
            </a:extLst>
          </p:cNvPr>
          <p:cNvSpPr/>
          <p:nvPr/>
        </p:nvSpPr>
        <p:spPr>
          <a:xfrm>
            <a:off x="457199" y="2268226"/>
            <a:ext cx="73434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948A373-066C-14C4-1AC6-02186A7E77CE}"/>
              </a:ext>
            </a:extLst>
          </p:cNvPr>
          <p:cNvSpPr/>
          <p:nvPr/>
        </p:nvSpPr>
        <p:spPr>
          <a:xfrm>
            <a:off x="1191544" y="2271617"/>
            <a:ext cx="2203036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Sensitiviteit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A916DC4-C848-D6F6-EDB2-219921B47D5D}"/>
              </a:ext>
            </a:extLst>
          </p:cNvPr>
          <p:cNvSpPr/>
          <p:nvPr/>
        </p:nvSpPr>
        <p:spPr>
          <a:xfrm>
            <a:off x="3482938" y="2290932"/>
            <a:ext cx="391445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15% overstaging → mist locale excisie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3D5DDD2-F670-2646-3BB4-355E37D99B7C}"/>
              </a:ext>
            </a:extLst>
          </p:cNvPr>
          <p:cNvSpPr/>
          <p:nvPr/>
        </p:nvSpPr>
        <p:spPr>
          <a:xfrm>
            <a:off x="457199" y="2652274"/>
            <a:ext cx="73434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4378107-9E40-F6D4-255F-B484E6D2D91D}"/>
              </a:ext>
            </a:extLst>
          </p:cNvPr>
          <p:cNvSpPr/>
          <p:nvPr/>
        </p:nvSpPr>
        <p:spPr>
          <a:xfrm>
            <a:off x="1191544" y="2643721"/>
            <a:ext cx="2203036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Specificiteit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05CD046-A157-AACF-4E92-C5AC164433FD}"/>
              </a:ext>
            </a:extLst>
          </p:cNvPr>
          <p:cNvSpPr/>
          <p:nvPr/>
        </p:nvSpPr>
        <p:spPr>
          <a:xfrm>
            <a:off x="3482938" y="2652274"/>
            <a:ext cx="391445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31% understaging → toch TME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nodig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1BA7700-B929-17A0-1E0B-3C2200711506}"/>
              </a:ext>
            </a:extLst>
          </p:cNvPr>
          <p:cNvSpPr/>
          <p:nvPr/>
        </p:nvSpPr>
        <p:spPr>
          <a:xfrm>
            <a:off x="457199" y="3036322"/>
            <a:ext cx="73434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7D52027-4025-B2D7-3299-A5F6B9F3CFAD}"/>
              </a:ext>
            </a:extLst>
          </p:cNvPr>
          <p:cNvSpPr/>
          <p:nvPr/>
        </p:nvSpPr>
        <p:spPr>
          <a:xfrm>
            <a:off x="1191544" y="3022606"/>
            <a:ext cx="2203036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Sens. T1 subgroep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425A476-B87E-46B7-BA67-381E077E4BB1}"/>
              </a:ext>
            </a:extLst>
          </p:cNvPr>
          <p:cNvSpPr/>
          <p:nvPr/>
        </p:nvSpPr>
        <p:spPr>
          <a:xfrm>
            <a:off x="3482938" y="3050500"/>
            <a:ext cx="4654194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Slechts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9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pT1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overstaging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3E28A4A-3E9E-536D-AA16-A9E84647602A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defRPr/>
            </a:pP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Van der Schee et al. Endoscopy 2025</a:t>
            </a:r>
            <a:r>
              <a:rPr lang="en-US" sz="800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8FF5274E-E7F5-BBEB-BCB4-A435590C9FF5}"/>
              </a:ext>
            </a:extLst>
          </p:cNvPr>
          <p:cNvSpPr/>
          <p:nvPr/>
        </p:nvSpPr>
        <p:spPr>
          <a:xfrm>
            <a:off x="367990" y="3466770"/>
            <a:ext cx="6423103" cy="536518"/>
          </a:xfrm>
          <a:prstGeom prst="rect">
            <a:avLst/>
          </a:prstGeom>
          <a:solidFill>
            <a:srgbClr val="0F11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114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A1C8ED-B9A0-64F3-07E9-492B8695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38D550-334E-D0AC-AD47-044038F7EF9C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Van der Schee et al: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diagnostische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accuratesse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selectie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voor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EID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971EE4-ABCB-7B37-062D-E6CE1D2B0D8A}"/>
              </a:ext>
            </a:extLst>
          </p:cNvPr>
          <p:cNvSpPr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= 244 · 12 RADIOLOGEN · 2 ACADEMISCHE CENTRA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79734FA-35E0-60F8-76AA-136BE7BCC199}"/>
              </a:ext>
            </a:extLst>
          </p:cNvPr>
          <p:cNvSpPr/>
          <p:nvPr/>
        </p:nvSpPr>
        <p:spPr>
          <a:xfrm>
            <a:off x="457199" y="1776827"/>
            <a:ext cx="4895636" cy="829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Sensitiviteit &amp; specificiteit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864FCBA-88BB-1CB0-2852-2185F46BC54A}"/>
              </a:ext>
            </a:extLst>
          </p:cNvPr>
          <p:cNvSpPr/>
          <p:nvPr/>
        </p:nvSpPr>
        <p:spPr>
          <a:xfrm>
            <a:off x="457199" y="2268226"/>
            <a:ext cx="73434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3DCD934-FD61-DC13-C73B-4BD3BC026711}"/>
              </a:ext>
            </a:extLst>
          </p:cNvPr>
          <p:cNvSpPr/>
          <p:nvPr/>
        </p:nvSpPr>
        <p:spPr>
          <a:xfrm>
            <a:off x="1191544" y="2271617"/>
            <a:ext cx="2203036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Sensitiviteit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5263A13-E002-EBBC-89DE-B9C34EB91A1E}"/>
              </a:ext>
            </a:extLst>
          </p:cNvPr>
          <p:cNvSpPr/>
          <p:nvPr/>
        </p:nvSpPr>
        <p:spPr>
          <a:xfrm>
            <a:off x="3482938" y="2290932"/>
            <a:ext cx="391445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15% overstaging → mist locale excisie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308E68B-4B1C-C2C0-ABF3-38FF6C1AB606}"/>
              </a:ext>
            </a:extLst>
          </p:cNvPr>
          <p:cNvSpPr/>
          <p:nvPr/>
        </p:nvSpPr>
        <p:spPr>
          <a:xfrm>
            <a:off x="457199" y="2652274"/>
            <a:ext cx="73434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BCBA99E-CAE0-6E9D-719E-B538EDD3C4F3}"/>
              </a:ext>
            </a:extLst>
          </p:cNvPr>
          <p:cNvSpPr/>
          <p:nvPr/>
        </p:nvSpPr>
        <p:spPr>
          <a:xfrm>
            <a:off x="1191544" y="2643721"/>
            <a:ext cx="2203036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Specificiteit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521DA78-253B-720E-BC22-4CB725C8392D}"/>
              </a:ext>
            </a:extLst>
          </p:cNvPr>
          <p:cNvSpPr/>
          <p:nvPr/>
        </p:nvSpPr>
        <p:spPr>
          <a:xfrm>
            <a:off x="3482938" y="2652274"/>
            <a:ext cx="391445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31% understaging → toch TME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nodig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4A8EEDC-1BF1-53DC-55D6-FF16DFFFEE7D}"/>
              </a:ext>
            </a:extLst>
          </p:cNvPr>
          <p:cNvSpPr/>
          <p:nvPr/>
        </p:nvSpPr>
        <p:spPr>
          <a:xfrm>
            <a:off x="457199" y="3036322"/>
            <a:ext cx="734345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EB4905A-C21F-E639-8C49-97E80DF4A2F6}"/>
              </a:ext>
            </a:extLst>
          </p:cNvPr>
          <p:cNvSpPr/>
          <p:nvPr/>
        </p:nvSpPr>
        <p:spPr>
          <a:xfrm>
            <a:off x="1191544" y="3022606"/>
            <a:ext cx="2203036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Sens. T1 subgroep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6701E7C-9ACD-D575-CEA3-32F98BE4BD36}"/>
              </a:ext>
            </a:extLst>
          </p:cNvPr>
          <p:cNvSpPr/>
          <p:nvPr/>
        </p:nvSpPr>
        <p:spPr>
          <a:xfrm>
            <a:off x="3482938" y="3050500"/>
            <a:ext cx="4654194" cy="1160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600" dirty="0">
                <a:solidFill>
                  <a:srgbClr val="9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pT1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overstaging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E0C799AD-8F1B-9135-8017-2161E76113CE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defRPr/>
            </a:pP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Van der Schee et al. Endoscopy 2025</a:t>
            </a:r>
            <a:r>
              <a:rPr lang="en-US" sz="800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377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27A651-43D8-2D49-6435-850E1321E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B04441-BBF9-C390-2A2F-0832DED791DA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Viktil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et al: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bisacodyl micro-enema before MRI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D0810D6-8AFF-4359-B6F9-511E6E43514E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Viktil et al. European Radiology 202</a:t>
            </a: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D5DF2B3-DE95-7D1B-12AE-8973675285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22918"/>
            <a:ext cx="7772400" cy="317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0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F3BD3-5533-CF62-AA83-59A8BB141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13CD0B-DF2A-E033-9315-8BE3D753ACF1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Viktil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et al: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bisacodyl micro-enema before MRI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1354BA-3ECC-9B3A-7560-8B633B0D40BD}"/>
              </a:ext>
            </a:extLst>
          </p:cNvPr>
          <p:cNvSpPr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= 50 · 2 RADIOLOGEN ·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35D416E-B7AD-53C4-BDFD-D64CE11C054C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Viktil et al. European Radiology 202</a:t>
            </a: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E5D691FC-2082-0722-D6A4-A06D83418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0575" y="1234440"/>
            <a:ext cx="5342849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840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8AEFAF-B228-40F5-C726-4B9F3C60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F42EDB-5618-4E32-2A5F-68BD9F432E40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Viktil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et al: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bisacodyl micro-enema before MRI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F41D64F-39D2-01F7-FD6B-854059428715}"/>
              </a:ext>
            </a:extLst>
          </p:cNvPr>
          <p:cNvSpPr/>
          <p:nvPr/>
        </p:nvSpPr>
        <p:spPr>
          <a:xfrm>
            <a:off x="457200" y="960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 = 50 · 2 RADIOLOGEN ·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CFC00916-83E1-E54E-A958-9ADE4501754E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kumimoji="0" 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Viktil et al. European Radiology 202</a:t>
            </a: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6D865AF-67C1-7D0A-5E8E-7E943D1DF9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725"/>
          <a:stretch>
            <a:fillRect/>
          </a:stretch>
        </p:blipFill>
        <p:spPr>
          <a:xfrm>
            <a:off x="1197641" y="1345952"/>
            <a:ext cx="3692023" cy="3175000"/>
          </a:xfrm>
          <a:prstGeom prst="rect">
            <a:avLst/>
          </a:prstGeom>
        </p:spPr>
      </p:pic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FCDC3F2A-A9AD-708C-BED7-99766867D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063938"/>
              </p:ext>
            </p:extLst>
          </p:nvPr>
        </p:nvGraphicFramePr>
        <p:xfrm>
          <a:off x="5691882" y="1488440"/>
          <a:ext cx="2973451" cy="2908899"/>
        </p:xfrm>
        <a:graphic>
          <a:graphicData uri="http://schemas.openxmlformats.org/drawingml/2006/table">
            <a:tbl>
              <a:tblPr/>
              <a:tblGrid>
                <a:gridCol w="2973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645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6C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 met Bisacodyl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90% </a:t>
                      </a:r>
                      <a:r>
                        <a:rPr lang="en-US" sz="1600" dirty="0" err="1">
                          <a:solidFill>
                            <a:srgbClr val="E0DFD8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oedeem</a:t>
                      </a:r>
                      <a:r>
                        <a:rPr lang="en-US" sz="16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 tot </a:t>
                      </a:r>
                      <a:r>
                        <a:rPr lang="en-US" sz="1600" dirty="0" err="1">
                          <a:solidFill>
                            <a:srgbClr val="E0DFD8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en</a:t>
                      </a:r>
                      <a:r>
                        <a:rPr lang="en-US" sz="16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 met tumor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 </a:t>
                      </a:r>
                      <a:r>
                        <a:rPr lang="en-US" sz="1600" dirty="0" err="1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oedeem</a:t>
                      </a:r>
                      <a:r>
                        <a:rPr lang="en-US" sz="16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tot sigmoid take-off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 err="1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Rectumdiameter</a:t>
                      </a:r>
                      <a:r>
                        <a:rPr lang="en-US" sz="16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gelijk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745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FA501-AB54-C9DB-5722-94F35B7D1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FEE8B6-385F-9EA3-7C89-EE74CAADE726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Viktil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et al: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bisacodyl micro-enema before MRI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997779B7-EA06-FC29-588B-30CB4CBFFC13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kumimoji="0" 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Viktil et al. European Radiology 202</a:t>
            </a: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Afbeelding 5" descr="Franse onderzoekers testen zetpil om corona te behandelen - De Specialist">
            <a:extLst>
              <a:ext uri="{FF2B5EF4-FFF2-40B4-BE49-F238E27FC236}">
                <a16:creationId xmlns:a16="http://schemas.microsoft.com/office/drawing/2014/main" id="{4BB90E8C-62A3-2251-866C-5A2FDA2F88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736"/>
          <a:stretch>
            <a:fillRect/>
          </a:stretch>
        </p:blipFill>
        <p:spPr>
          <a:xfrm>
            <a:off x="797417" y="1285875"/>
            <a:ext cx="3601844" cy="2659823"/>
          </a:xfrm>
          <a:prstGeom prst="rect">
            <a:avLst/>
          </a:prstGeom>
        </p:spPr>
      </p:pic>
      <p:pic>
        <p:nvPicPr>
          <p:cNvPr id="7" name="Afbeelding 6" descr="Buy Bisalax Micro Enema 10mg Bisacodyl (Box of 25 enemas) Online - eMedical">
            <a:extLst>
              <a:ext uri="{FF2B5EF4-FFF2-40B4-BE49-F238E27FC236}">
                <a16:creationId xmlns:a16="http://schemas.microsoft.com/office/drawing/2014/main" id="{4269CF78-08B5-8F28-8240-3145CA2F0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740" y="1285875"/>
            <a:ext cx="3601844" cy="26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08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3C858-EE4E-5E99-1191-3FBAE3DAF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AA0A3C-AFDA-E90F-762A-C13FC30CE163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Viktil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et al: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bisacodyl micro-enema before MRI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3FDED234-449B-C06F-F496-CA6A7B7A1F3A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Viktil et al. Abdominal Radiology 202</a:t>
            </a:r>
            <a:r>
              <a:rPr kumimoji="0" 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·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D2218103-DAF4-C166-6D8C-47A420334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61858"/>
            <a:ext cx="7772400" cy="301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240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9F18E-331D-98B4-BBA5-2D084C7FC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1D541DC-0D1A-E34E-8F50-FEEF4EB69C94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32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Viktil</a:t>
            </a:r>
            <a:r>
              <a:rPr lang="en-US" sz="32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al: </a:t>
            </a:r>
            <a:r>
              <a:rPr lang="en-US" sz="2400" b="1" dirty="0">
                <a:solidFill>
                  <a:srgbClr val="E0DF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bisacodyl </a:t>
            </a:r>
            <a:r>
              <a:rPr lang="en-US" sz="2400" b="1" dirty="0" err="1">
                <a:solidFill>
                  <a:srgbClr val="E0DF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verbetert</a:t>
            </a:r>
            <a:r>
              <a:rPr lang="en-US" sz="2400" b="1" dirty="0">
                <a:solidFill>
                  <a:srgbClr val="E0DFD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srgbClr val="6CC0C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zichtbaarheid</a:t>
            </a:r>
            <a:r>
              <a:rPr lang="en-US" sz="2400" dirty="0"/>
              <a:t> </a:t>
            </a:r>
            <a:endParaRPr lang="en-US" sz="3200" dirty="0">
              <a:solidFill>
                <a:prstClr val="black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42B843-181A-4037-1C93-8F26E8623313}"/>
              </a:ext>
            </a:extLst>
          </p:cNvPr>
          <p:cNvSpPr/>
          <p:nvPr/>
        </p:nvSpPr>
        <p:spPr>
          <a:xfrm>
            <a:off x="457200" y="9601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PROSPECTIEF · N = 50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2BD212E-E2B1-35C7-31DF-8BD13DE603E3}"/>
              </a:ext>
            </a:extLst>
          </p:cNvPr>
          <p:cNvSpPr/>
          <p:nvPr/>
        </p:nvSpPr>
        <p:spPr>
          <a:xfrm>
            <a:off x="457199" y="1325880"/>
            <a:ext cx="5231219" cy="48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Studiedesign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D605872-82DD-AD6D-9590-9F18C4D0C909}"/>
              </a:ext>
            </a:extLst>
          </p:cNvPr>
          <p:cNvSpPr/>
          <p:nvPr/>
        </p:nvSpPr>
        <p:spPr>
          <a:xfrm>
            <a:off x="457199" y="1645919"/>
            <a:ext cx="5231219" cy="5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50 patiënten met verdenking early rectal cancer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7F9BCD-2168-C9CD-DEC5-41E4EE6BC91D}"/>
              </a:ext>
            </a:extLst>
          </p:cNvPr>
          <p:cNvSpPr/>
          <p:nvPr/>
        </p:nvSpPr>
        <p:spPr>
          <a:xfrm>
            <a:off x="457199" y="1938527"/>
            <a:ext cx="5231219" cy="5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Iedereen MRI zonder én met bisacodyl </a:t>
            </a:r>
            <a:r>
              <a:rPr lang="en-US" sz="1600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klysma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19AF51E-86A0-C0C8-3E81-8AC72236EB24}"/>
              </a:ext>
            </a:extLst>
          </p:cNvPr>
          <p:cNvSpPr/>
          <p:nvPr/>
        </p:nvSpPr>
        <p:spPr>
          <a:xfrm>
            <a:off x="457199" y="2231135"/>
            <a:ext cx="5231219" cy="5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2 ervaren radiologen (20 en 15 jaar),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geblindeerd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D5C9E35-2128-DB9C-AF0D-F04682AEB1D0}"/>
              </a:ext>
            </a:extLst>
          </p:cNvPr>
          <p:cNvSpPr/>
          <p:nvPr/>
        </p:nvSpPr>
        <p:spPr>
          <a:xfrm>
            <a:off x="457199" y="2523743"/>
            <a:ext cx="5231219" cy="5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T0-T1sm2 vs &gt;T1sm3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BBC19F1-72FD-9AAD-42B3-47C5509F0465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Viktil et al. Abdom Radiol 2025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91B98798-5AA9-6CB7-4DF1-82635E4AF47B}"/>
              </a:ext>
            </a:extLst>
          </p:cNvPr>
          <p:cNvSpPr/>
          <p:nvPr/>
        </p:nvSpPr>
        <p:spPr>
          <a:xfrm>
            <a:off x="457199" y="2833507"/>
            <a:ext cx="5231219" cy="5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Histopathologie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referentiestandaard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739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2506A-0922-A6AF-D556-B600915D0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4FD9B0-6F80-D52F-F0D1-F15D3FD9874E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Viktil et al: bisacodyl verbetert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zichtbaarheid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E40C91B-665A-FF3B-A9D7-310BF9DAFFFD}"/>
              </a:ext>
            </a:extLst>
          </p:cNvPr>
          <p:cNvSpPr/>
          <p:nvPr/>
        </p:nvSpPr>
        <p:spPr>
          <a:xfrm>
            <a:off x="457200" y="9601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PROSPECTIEF · N = 50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62AAB2-1E34-EC4F-48FD-E9CA23000FC6}"/>
              </a:ext>
            </a:extLst>
          </p:cNvPr>
          <p:cNvSpPr/>
          <p:nvPr/>
        </p:nvSpPr>
        <p:spPr>
          <a:xfrm>
            <a:off x="457199" y="1325880"/>
            <a:ext cx="5231219" cy="48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Studiedesign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432C8C-2A8E-3BA3-1C80-4FE4EDA79DEA}"/>
              </a:ext>
            </a:extLst>
          </p:cNvPr>
          <p:cNvSpPr/>
          <p:nvPr/>
        </p:nvSpPr>
        <p:spPr>
          <a:xfrm>
            <a:off x="457199" y="1645919"/>
            <a:ext cx="5231219" cy="5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50 patiënten met verdenking early rectal cancer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77D25C9-22BE-8B36-DCFF-CB17E99479FE}"/>
              </a:ext>
            </a:extLst>
          </p:cNvPr>
          <p:cNvSpPr/>
          <p:nvPr/>
        </p:nvSpPr>
        <p:spPr>
          <a:xfrm>
            <a:off x="457199" y="1938527"/>
            <a:ext cx="5231219" cy="5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Iedereen MRI zonder én met bisacodyl </a:t>
            </a:r>
            <a:r>
              <a:rPr lang="en-US" sz="1600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klysma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FA19108-4C7B-CA16-E2DB-94A1F3C41AF5}"/>
              </a:ext>
            </a:extLst>
          </p:cNvPr>
          <p:cNvSpPr/>
          <p:nvPr/>
        </p:nvSpPr>
        <p:spPr>
          <a:xfrm>
            <a:off x="457199" y="2231135"/>
            <a:ext cx="5231219" cy="5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2 ervaren radiologen (20 en 15 jaar),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geblindeerd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48F49A3-EEB9-7596-BF1C-BA50670492A0}"/>
              </a:ext>
            </a:extLst>
          </p:cNvPr>
          <p:cNvSpPr/>
          <p:nvPr/>
        </p:nvSpPr>
        <p:spPr>
          <a:xfrm>
            <a:off x="457199" y="2523743"/>
            <a:ext cx="5231219" cy="5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T0-T1sm2 vs &gt;T1sm3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B84E8C0-AA4D-5876-1C3A-90D40C0EA0E4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Viktil et al. Abdom Radiol 2025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D2AFBD7A-1B42-3843-0EC8-7DDA2ED486B0}"/>
              </a:ext>
            </a:extLst>
          </p:cNvPr>
          <p:cNvSpPr/>
          <p:nvPr/>
        </p:nvSpPr>
        <p:spPr>
          <a:xfrm>
            <a:off x="457199" y="2833507"/>
            <a:ext cx="5231219" cy="580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•  Histopathologie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referentiestandaard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80D3A77-8F2C-24DF-2882-B1A4533D4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8" y="1216815"/>
            <a:ext cx="8233439" cy="314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7295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Viktil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0DFD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et al: meer vertrouwen in de 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juiste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diagnose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DIAGNOSTISCHE PERFORMANCE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03773"/>
              </p:ext>
            </p:extLst>
          </p:nvPr>
        </p:nvGraphicFramePr>
        <p:xfrm>
          <a:off x="457200" y="1280160"/>
          <a:ext cx="411480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99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C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bisacodyl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 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 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C0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 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 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0" y="2560320"/>
            <a:ext cx="3657600" cy="1143000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261747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Reader 1 (20 jaar ervaring)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212080" y="284607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F5F6A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212080" y="339471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29/50 → 40/50 · p = 0.04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29200" y="3829050"/>
            <a:ext cx="3657600" cy="1143000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13" name="Text 10"/>
          <p:cNvSpPr/>
          <p:nvPr/>
        </p:nvSpPr>
        <p:spPr>
          <a:xfrm>
            <a:off x="5212080" y="3886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Reader 2 (15 jaar, minder ERC-ervaring)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21208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F5F6A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212080" y="46634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21/50 → 36/50 · p = 0.002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defRPr/>
            </a:pP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Viktil et al. Abdom Radiol 2025</a:t>
            </a:r>
            <a:r>
              <a:rPr lang="en-US" sz="800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>
              <a:solidFill>
                <a:prstClr val="black"/>
              </a:solidFill>
            </a:endParaRPr>
          </a:p>
        </p:txBody>
      </p:sp>
      <p:grpSp>
        <p:nvGrpSpPr>
          <p:cNvPr id="20" name="Groep 19">
            <a:extLst>
              <a:ext uri="{FF2B5EF4-FFF2-40B4-BE49-F238E27FC236}">
                <a16:creationId xmlns:a16="http://schemas.microsoft.com/office/drawing/2014/main" id="{FDFA5FAA-6A99-D953-290B-2E59A2BB25D3}"/>
              </a:ext>
            </a:extLst>
          </p:cNvPr>
          <p:cNvGrpSpPr/>
          <p:nvPr/>
        </p:nvGrpSpPr>
        <p:grpSpPr>
          <a:xfrm>
            <a:off x="5029200" y="843534"/>
            <a:ext cx="3657600" cy="1591056"/>
            <a:chOff x="5029200" y="1645920"/>
            <a:chExt cx="3657600" cy="1591056"/>
          </a:xfrm>
        </p:grpSpPr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84AF5E70-F458-069B-20E1-C27DC760DD46}"/>
                </a:ext>
              </a:extLst>
            </p:cNvPr>
            <p:cNvSpPr/>
            <p:nvPr/>
          </p:nvSpPr>
          <p:spPr>
            <a:xfrm>
              <a:off x="5029200" y="1645920"/>
              <a:ext cx="3657600" cy="731520"/>
            </a:xfrm>
            <a:prstGeom prst="rect">
              <a:avLst/>
            </a:prstGeom>
            <a:solidFill>
              <a:srgbClr val="1A1C25"/>
            </a:solidFill>
            <a:ln/>
          </p:spPr>
        </p:sp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88631D00-F182-6D33-E11D-3510D6DF6756}"/>
                </a:ext>
              </a:extLst>
            </p:cNvPr>
            <p:cNvSpPr/>
            <p:nvPr/>
          </p:nvSpPr>
          <p:spPr>
            <a:xfrm>
              <a:off x="5212080" y="1691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CC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+2.2–2.8 mm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35526C63-9002-A886-3D2C-728BCB3E6457}"/>
                </a:ext>
              </a:extLst>
            </p:cNvPr>
            <p:cNvSpPr/>
            <p:nvPr/>
          </p:nvSpPr>
          <p:spPr>
            <a:xfrm>
              <a:off x="5212080" y="201168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9A99A0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submucosale verbreding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Shape 16">
              <a:extLst>
                <a:ext uri="{FF2B5EF4-FFF2-40B4-BE49-F238E27FC236}">
                  <a16:creationId xmlns:a16="http://schemas.microsoft.com/office/drawing/2014/main" id="{7F80D8B3-0527-28A6-1548-7BA78611388A}"/>
                </a:ext>
              </a:extLst>
            </p:cNvPr>
            <p:cNvSpPr/>
            <p:nvPr/>
          </p:nvSpPr>
          <p:spPr>
            <a:xfrm>
              <a:off x="5029200" y="2505456"/>
              <a:ext cx="3657600" cy="731520"/>
            </a:xfrm>
            <a:prstGeom prst="rect">
              <a:avLst/>
            </a:prstGeom>
            <a:solidFill>
              <a:srgbClr val="1A1C25"/>
            </a:solidFill>
            <a:ln/>
          </p:spPr>
        </p:sp>
        <p:sp>
          <p:nvSpPr>
            <p:cNvPr id="26" name="Text 17">
              <a:extLst>
                <a:ext uri="{FF2B5EF4-FFF2-40B4-BE49-F238E27FC236}">
                  <a16:creationId xmlns:a16="http://schemas.microsoft.com/office/drawing/2014/main" id="{EC19AC80-E9D4-6607-9BE9-EC0E5AD63BEC}"/>
                </a:ext>
              </a:extLst>
            </p:cNvPr>
            <p:cNvSpPr/>
            <p:nvPr/>
          </p:nvSpPr>
          <p:spPr>
            <a:xfrm>
              <a:off x="5212080" y="26060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CC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κ 0.58 → 0.68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6B2175B4-F1F8-1BA4-66A8-9CCBFF1777FD}"/>
                </a:ext>
              </a:extLst>
            </p:cNvPr>
            <p:cNvSpPr/>
            <p:nvPr/>
          </p:nvSpPr>
          <p:spPr>
            <a:xfrm>
              <a:off x="5212080" y="292608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9A99A0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interreader agreement: matig → goed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" name="Shape 2">
            <a:extLst>
              <a:ext uri="{FF2B5EF4-FFF2-40B4-BE49-F238E27FC236}">
                <a16:creationId xmlns:a16="http://schemas.microsoft.com/office/drawing/2014/main" id="{E8C4D22A-18A7-D041-7AE5-8409F5EDFE43}"/>
              </a:ext>
            </a:extLst>
          </p:cNvPr>
          <p:cNvSpPr/>
          <p:nvPr/>
        </p:nvSpPr>
        <p:spPr>
          <a:xfrm>
            <a:off x="457200" y="3200400"/>
            <a:ext cx="4114800" cy="411480"/>
          </a:xfrm>
          <a:prstGeom prst="rect">
            <a:avLst/>
          </a:prstGeom>
          <a:solidFill>
            <a:srgbClr val="2A2010"/>
          </a:solidFill>
          <a:ln/>
        </p:spPr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9B91A76F-9A95-033E-EDB4-0F6EB7D0C836}"/>
              </a:ext>
            </a:extLst>
          </p:cNvPr>
          <p:cNvSpPr/>
          <p:nvPr/>
        </p:nvSpPr>
        <p:spPr>
          <a:xfrm>
            <a:off x="640080" y="3200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D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Sens/spec veranderde niet significant (p &gt; 0.05)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4CC472-4340-E296-4B8D-34FF58B1C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16AF43-3C0C-4737-2EAF-355A723F8F67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defRPr/>
            </a:pPr>
            <a:r>
              <a:rPr lang="en-US" sz="2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Viktil</a:t>
            </a: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al: </a:t>
            </a:r>
            <a:r>
              <a:rPr lang="en-US" sz="2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</a:t>
            </a: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vertrouwen</a:t>
            </a: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de </a:t>
            </a:r>
            <a:r>
              <a:rPr lang="en-US" sz="2400" b="1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juiste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diagnose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D2E3F3-0487-7681-1141-09A0ADE6F87E}"/>
              </a:ext>
            </a:extLst>
          </p:cNvPr>
          <p:cNvSpPr/>
          <p:nvPr/>
        </p:nvSpPr>
        <p:spPr>
          <a:xfrm>
            <a:off x="457200" y="960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DIAGNOSTISCHE PERFORMANCE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5EF82997-6053-EC04-6B6E-732B2844D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774397"/>
              </p:ext>
            </p:extLst>
          </p:nvPr>
        </p:nvGraphicFramePr>
        <p:xfrm>
          <a:off x="457200" y="1280160"/>
          <a:ext cx="411480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99A0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Zonder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CC0CC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bisacodyl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 R1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 R2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C0CC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 R1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 R2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8BF979D4-4F96-3F97-CFEA-F5F7B8EE34AD}"/>
              </a:ext>
            </a:extLst>
          </p:cNvPr>
          <p:cNvSpPr/>
          <p:nvPr/>
        </p:nvSpPr>
        <p:spPr>
          <a:xfrm>
            <a:off x="5029200" y="2560320"/>
            <a:ext cx="3657600" cy="1143000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411B6DC-D3C9-F32F-E380-F175762BE842}"/>
              </a:ext>
            </a:extLst>
          </p:cNvPr>
          <p:cNvSpPr/>
          <p:nvPr/>
        </p:nvSpPr>
        <p:spPr>
          <a:xfrm>
            <a:off x="5212080" y="261747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Reader 1 (20 jaar ervaring)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44A54C7-CDE2-B91F-B02C-2D928E01A5BE}"/>
              </a:ext>
            </a:extLst>
          </p:cNvPr>
          <p:cNvSpPr/>
          <p:nvPr/>
        </p:nvSpPr>
        <p:spPr>
          <a:xfrm>
            <a:off x="5212080" y="284607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F5F6A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64FBADF-2557-79B6-D40E-7005CF73A393}"/>
              </a:ext>
            </a:extLst>
          </p:cNvPr>
          <p:cNvSpPr/>
          <p:nvPr/>
        </p:nvSpPr>
        <p:spPr>
          <a:xfrm>
            <a:off x="5212080" y="339471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29/50 → 40/50 · p = 0.04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AC91C86-44AA-DAC2-4DE7-AB3459622CB5}"/>
              </a:ext>
            </a:extLst>
          </p:cNvPr>
          <p:cNvSpPr/>
          <p:nvPr/>
        </p:nvSpPr>
        <p:spPr>
          <a:xfrm>
            <a:off x="5029200" y="3829050"/>
            <a:ext cx="3657600" cy="1143000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49E7700-00CF-D867-BF72-21449EAF186A}"/>
              </a:ext>
            </a:extLst>
          </p:cNvPr>
          <p:cNvSpPr/>
          <p:nvPr/>
        </p:nvSpPr>
        <p:spPr>
          <a:xfrm>
            <a:off x="5212080" y="3886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Reader 2 (15 jaar, minder ERC-ervaring)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7B583153-D80F-08D9-CFDC-3B7770856F6B}"/>
              </a:ext>
            </a:extLst>
          </p:cNvPr>
          <p:cNvSpPr/>
          <p:nvPr/>
        </p:nvSpPr>
        <p:spPr>
          <a:xfrm>
            <a:off x="521208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F5F6A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B165432-E4E4-9F0B-4AFB-9A4F999E8414}"/>
              </a:ext>
            </a:extLst>
          </p:cNvPr>
          <p:cNvSpPr/>
          <p:nvPr/>
        </p:nvSpPr>
        <p:spPr>
          <a:xfrm>
            <a:off x="5212080" y="46634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>
                    <a:alpha val="10000"/>
                  </a:srgbClr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21/50 → 36/50 · p = 0.002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1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0794937-8859-4452-3A28-C5D50B9E670C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defRPr/>
            </a:pP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Viktil et al. Abdom Radiol 2025</a:t>
            </a:r>
            <a:r>
              <a:rPr lang="en-US" sz="800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>
              <a:solidFill>
                <a:prstClr val="black"/>
              </a:solidFill>
            </a:endParaRPr>
          </a:p>
        </p:txBody>
      </p:sp>
      <p:grpSp>
        <p:nvGrpSpPr>
          <p:cNvPr id="20" name="Groep 19">
            <a:extLst>
              <a:ext uri="{FF2B5EF4-FFF2-40B4-BE49-F238E27FC236}">
                <a16:creationId xmlns:a16="http://schemas.microsoft.com/office/drawing/2014/main" id="{DD7342D6-F297-8DDE-C8AB-752656BF2B1F}"/>
              </a:ext>
            </a:extLst>
          </p:cNvPr>
          <p:cNvGrpSpPr/>
          <p:nvPr/>
        </p:nvGrpSpPr>
        <p:grpSpPr>
          <a:xfrm>
            <a:off x="5029200" y="843534"/>
            <a:ext cx="3657600" cy="1591056"/>
            <a:chOff x="5029200" y="1645920"/>
            <a:chExt cx="3657600" cy="1591056"/>
          </a:xfrm>
        </p:grpSpPr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8B1574B1-0FC9-F836-DB45-E2AD0C8844E9}"/>
                </a:ext>
              </a:extLst>
            </p:cNvPr>
            <p:cNvSpPr/>
            <p:nvPr/>
          </p:nvSpPr>
          <p:spPr>
            <a:xfrm>
              <a:off x="5029200" y="1645920"/>
              <a:ext cx="3657600" cy="731520"/>
            </a:xfrm>
            <a:prstGeom prst="rect">
              <a:avLst/>
            </a:prstGeom>
            <a:solidFill>
              <a:srgbClr val="1A1C25"/>
            </a:solidFill>
            <a:ln/>
          </p:spPr>
        </p:sp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C12B5BEB-9554-5AAE-844A-6494C336E336}"/>
                </a:ext>
              </a:extLst>
            </p:cNvPr>
            <p:cNvSpPr/>
            <p:nvPr/>
          </p:nvSpPr>
          <p:spPr>
            <a:xfrm>
              <a:off x="5212080" y="1691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CC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+2.2–2.8 mm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A230F3B7-B435-5691-DD1A-A2548C0AD697}"/>
                </a:ext>
              </a:extLst>
            </p:cNvPr>
            <p:cNvSpPr/>
            <p:nvPr/>
          </p:nvSpPr>
          <p:spPr>
            <a:xfrm>
              <a:off x="5212080" y="201168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9A99A0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submucosale verbreding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Shape 16">
              <a:extLst>
                <a:ext uri="{FF2B5EF4-FFF2-40B4-BE49-F238E27FC236}">
                  <a16:creationId xmlns:a16="http://schemas.microsoft.com/office/drawing/2014/main" id="{5B2AA65C-5FAD-6A5B-FBE7-9E5666333271}"/>
                </a:ext>
              </a:extLst>
            </p:cNvPr>
            <p:cNvSpPr/>
            <p:nvPr/>
          </p:nvSpPr>
          <p:spPr>
            <a:xfrm>
              <a:off x="5029200" y="2505456"/>
              <a:ext cx="3657600" cy="731520"/>
            </a:xfrm>
            <a:prstGeom prst="rect">
              <a:avLst/>
            </a:prstGeom>
            <a:solidFill>
              <a:srgbClr val="1A1C25"/>
            </a:solidFill>
            <a:ln/>
          </p:spPr>
        </p:sp>
        <p:sp>
          <p:nvSpPr>
            <p:cNvPr id="26" name="Text 17">
              <a:extLst>
                <a:ext uri="{FF2B5EF4-FFF2-40B4-BE49-F238E27FC236}">
                  <a16:creationId xmlns:a16="http://schemas.microsoft.com/office/drawing/2014/main" id="{D234A5B4-589F-4F90-C507-F8E56BBB24A8}"/>
                </a:ext>
              </a:extLst>
            </p:cNvPr>
            <p:cNvSpPr/>
            <p:nvPr/>
          </p:nvSpPr>
          <p:spPr>
            <a:xfrm>
              <a:off x="5212080" y="26060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CC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κ 0.58 → 0.68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579D00FC-0106-28FF-E3A1-B9A35C7A63E8}"/>
                </a:ext>
              </a:extLst>
            </p:cNvPr>
            <p:cNvSpPr/>
            <p:nvPr/>
          </p:nvSpPr>
          <p:spPr>
            <a:xfrm>
              <a:off x="5212080" y="292608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9A99A0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interreader agreement: matig → goed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" name="Shape 2">
            <a:extLst>
              <a:ext uri="{FF2B5EF4-FFF2-40B4-BE49-F238E27FC236}">
                <a16:creationId xmlns:a16="http://schemas.microsoft.com/office/drawing/2014/main" id="{A007D161-B233-05E3-D3E3-0F2FE6FD7F36}"/>
              </a:ext>
            </a:extLst>
          </p:cNvPr>
          <p:cNvSpPr/>
          <p:nvPr/>
        </p:nvSpPr>
        <p:spPr>
          <a:xfrm>
            <a:off x="457200" y="3200400"/>
            <a:ext cx="4114800" cy="411480"/>
          </a:xfrm>
          <a:prstGeom prst="rect">
            <a:avLst/>
          </a:prstGeom>
          <a:solidFill>
            <a:srgbClr val="2A2010"/>
          </a:solidFill>
          <a:ln/>
        </p:spPr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F316EFF8-395F-0AC3-CC6F-C64B22E1081E}"/>
              </a:ext>
            </a:extLst>
          </p:cNvPr>
          <p:cNvSpPr/>
          <p:nvPr/>
        </p:nvSpPr>
        <p:spPr>
          <a:xfrm>
            <a:off x="640080" y="3200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DA82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Sens/spec veranderde niet significant (p &gt; 0.05)</a:t>
            </a:r>
            <a:endParaRPr lang="en-US" sz="1000" dirty="0">
              <a:solidFill>
                <a:schemeClr val="tx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7834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6E1EF-4E3F-0CC9-372F-D064461F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287AAE-7820-E442-6BC9-6AF79FB673A7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>
              <a:defRPr/>
            </a:pPr>
            <a:r>
              <a:rPr lang="en-US" sz="2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Viktil</a:t>
            </a: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al: </a:t>
            </a:r>
            <a:r>
              <a:rPr lang="en-US" sz="2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</a:t>
            </a: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vertrouwen</a:t>
            </a: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de </a:t>
            </a:r>
            <a:r>
              <a:rPr lang="en-US" sz="2400" b="1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juiste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diagnose</a:t>
            </a:r>
            <a:endParaRPr lang="en-US" sz="2400" dirty="0">
              <a:solidFill>
                <a:prstClr val="black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83D273-8EA1-7371-59A9-CBAD56EF105D}"/>
              </a:ext>
            </a:extLst>
          </p:cNvPr>
          <p:cNvSpPr/>
          <p:nvPr/>
        </p:nvSpPr>
        <p:spPr>
          <a:xfrm>
            <a:off x="457200" y="960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20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DIAGNOSTISCHE PERFORMANCE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0">
            <a:extLst>
              <a:ext uri="{FF2B5EF4-FFF2-40B4-BE49-F238E27FC236}">
                <a16:creationId xmlns:a16="http://schemas.microsoft.com/office/drawing/2014/main" id="{1E009347-FE90-D7E1-8DD4-D86470EE3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090109"/>
              </p:ext>
            </p:extLst>
          </p:nvPr>
        </p:nvGraphicFramePr>
        <p:xfrm>
          <a:off x="457200" y="1280160"/>
          <a:ext cx="4114800" cy="1463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99A0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Zonder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CC0CC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 bisacodyl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5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 R1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 R2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CC0CC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 R1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 R2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DFD8">
                              <a:alpha val="10000"/>
                            </a:srgb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000" dirty="0">
                        <a:solidFill>
                          <a:sysClr val="windowText" lastClr="000000">
                            <a:alpha val="10000"/>
                          </a:sys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>
            <a:extLst>
              <a:ext uri="{FF2B5EF4-FFF2-40B4-BE49-F238E27FC236}">
                <a16:creationId xmlns:a16="http://schemas.microsoft.com/office/drawing/2014/main" id="{AA8C54EE-9E36-3150-4879-B8AF9E8525DA}"/>
              </a:ext>
            </a:extLst>
          </p:cNvPr>
          <p:cNvSpPr/>
          <p:nvPr/>
        </p:nvSpPr>
        <p:spPr>
          <a:xfrm>
            <a:off x="5029200" y="2560320"/>
            <a:ext cx="3657600" cy="1143000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E1CDD00-7516-158C-535B-136B747F56EF}"/>
              </a:ext>
            </a:extLst>
          </p:cNvPr>
          <p:cNvSpPr/>
          <p:nvPr/>
        </p:nvSpPr>
        <p:spPr>
          <a:xfrm>
            <a:off x="5212080" y="261747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Reader 1 (20 jaar ervaring)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4B89C50-8062-3C88-CF38-B5B7CC6E8BCE}"/>
              </a:ext>
            </a:extLst>
          </p:cNvPr>
          <p:cNvSpPr/>
          <p:nvPr/>
        </p:nvSpPr>
        <p:spPr>
          <a:xfrm>
            <a:off x="5212080" y="284607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D2B5610-EB0A-E2A2-2ED4-520F740C1263}"/>
              </a:ext>
            </a:extLst>
          </p:cNvPr>
          <p:cNvSpPr/>
          <p:nvPr/>
        </p:nvSpPr>
        <p:spPr>
          <a:xfrm>
            <a:off x="5212080" y="339471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29/50 → 40/50 · p = 0.04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A69ABE7B-1B9A-034F-A78C-38BFF9B47159}"/>
              </a:ext>
            </a:extLst>
          </p:cNvPr>
          <p:cNvSpPr/>
          <p:nvPr/>
        </p:nvSpPr>
        <p:spPr>
          <a:xfrm>
            <a:off x="5029200" y="3829050"/>
            <a:ext cx="3657600" cy="1143000"/>
          </a:xfrm>
          <a:prstGeom prst="rect">
            <a:avLst/>
          </a:prstGeom>
          <a:solidFill>
            <a:srgbClr val="1A1C25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8152734-C99C-E130-19BD-38F90A0362DB}"/>
              </a:ext>
            </a:extLst>
          </p:cNvPr>
          <p:cNvSpPr/>
          <p:nvPr/>
        </p:nvSpPr>
        <p:spPr>
          <a:xfrm>
            <a:off x="5212080" y="38862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Reader 2 (15 jaar, minder ERC-ervaring)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D49EEAE-46F8-367B-F7EA-8CAA9047878A}"/>
              </a:ext>
            </a:extLst>
          </p:cNvPr>
          <p:cNvSpPr/>
          <p:nvPr/>
        </p:nvSpPr>
        <p:spPr>
          <a:xfrm>
            <a:off x="521208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5F5F6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6CC0C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20EB845-B78B-A84C-5185-99A845F91F26}"/>
              </a:ext>
            </a:extLst>
          </p:cNvPr>
          <p:cNvSpPr/>
          <p:nvPr/>
        </p:nvSpPr>
        <p:spPr>
          <a:xfrm>
            <a:off x="5212080" y="466344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9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21/50 → 36/50 · p = 0.002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7494322D-2085-EA7A-44CD-AB91FEE3E852}"/>
              </a:ext>
            </a:extLst>
          </p:cNvPr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lvl="0">
              <a:defRPr/>
            </a:pPr>
            <a:r>
              <a:rPr lang="en-US" sz="800" u="sng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Viktil et al. Abdom Radiol 2025</a:t>
            </a:r>
            <a:r>
              <a:rPr lang="en-US" sz="800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>
              <a:solidFill>
                <a:prstClr val="black"/>
              </a:solidFill>
            </a:endParaRPr>
          </a:p>
        </p:txBody>
      </p:sp>
      <p:grpSp>
        <p:nvGrpSpPr>
          <p:cNvPr id="20" name="Groep 19">
            <a:extLst>
              <a:ext uri="{FF2B5EF4-FFF2-40B4-BE49-F238E27FC236}">
                <a16:creationId xmlns:a16="http://schemas.microsoft.com/office/drawing/2014/main" id="{E929A7AB-506C-58FB-8546-2532EE480C58}"/>
              </a:ext>
            </a:extLst>
          </p:cNvPr>
          <p:cNvGrpSpPr/>
          <p:nvPr/>
        </p:nvGrpSpPr>
        <p:grpSpPr>
          <a:xfrm>
            <a:off x="5029200" y="843534"/>
            <a:ext cx="3657600" cy="1591056"/>
            <a:chOff x="5029200" y="1645920"/>
            <a:chExt cx="3657600" cy="1591056"/>
          </a:xfrm>
        </p:grpSpPr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AE70F2ED-3252-BB7A-0C91-9204454FC749}"/>
                </a:ext>
              </a:extLst>
            </p:cNvPr>
            <p:cNvSpPr/>
            <p:nvPr/>
          </p:nvSpPr>
          <p:spPr>
            <a:xfrm>
              <a:off x="5029200" y="1645920"/>
              <a:ext cx="3657600" cy="731520"/>
            </a:xfrm>
            <a:prstGeom prst="rect">
              <a:avLst/>
            </a:prstGeom>
            <a:solidFill>
              <a:srgbClr val="1A1C25"/>
            </a:solidFill>
            <a:ln/>
          </p:spPr>
        </p:sp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B5A27906-D708-8064-0FFF-67721139B9F1}"/>
                </a:ext>
              </a:extLst>
            </p:cNvPr>
            <p:cNvSpPr/>
            <p:nvPr/>
          </p:nvSpPr>
          <p:spPr>
            <a:xfrm>
              <a:off x="5212080" y="16916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CC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+2.2–2.8 mm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2667400A-0B5C-EC42-2E05-72382F4E4986}"/>
                </a:ext>
              </a:extLst>
            </p:cNvPr>
            <p:cNvSpPr/>
            <p:nvPr/>
          </p:nvSpPr>
          <p:spPr>
            <a:xfrm>
              <a:off x="5212080" y="201168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9A99A0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submucosale verbreding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Shape 16">
              <a:extLst>
                <a:ext uri="{FF2B5EF4-FFF2-40B4-BE49-F238E27FC236}">
                  <a16:creationId xmlns:a16="http://schemas.microsoft.com/office/drawing/2014/main" id="{72E46E07-DE3A-D4D4-D6F7-02B000DDF85A}"/>
                </a:ext>
              </a:extLst>
            </p:cNvPr>
            <p:cNvSpPr/>
            <p:nvPr/>
          </p:nvSpPr>
          <p:spPr>
            <a:xfrm>
              <a:off x="5029200" y="2505456"/>
              <a:ext cx="3657600" cy="731520"/>
            </a:xfrm>
            <a:prstGeom prst="rect">
              <a:avLst/>
            </a:prstGeom>
            <a:solidFill>
              <a:srgbClr val="1A1C25"/>
            </a:solidFill>
            <a:ln/>
          </p:spPr>
        </p:sp>
        <p:sp>
          <p:nvSpPr>
            <p:cNvPr id="26" name="Text 17">
              <a:extLst>
                <a:ext uri="{FF2B5EF4-FFF2-40B4-BE49-F238E27FC236}">
                  <a16:creationId xmlns:a16="http://schemas.microsoft.com/office/drawing/2014/main" id="{CFE04293-5AA5-62AE-6F4F-D1C033DCF70D}"/>
                </a:ext>
              </a:extLst>
            </p:cNvPr>
            <p:cNvSpPr/>
            <p:nvPr/>
          </p:nvSpPr>
          <p:spPr>
            <a:xfrm>
              <a:off x="5212080" y="2606040"/>
              <a:ext cx="1828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6CC0CC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κ 0.58 → 0.68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B9BA6742-CF86-F2F1-DCB6-6F8A8A1B6E11}"/>
                </a:ext>
              </a:extLst>
            </p:cNvPr>
            <p:cNvSpPr/>
            <p:nvPr/>
          </p:nvSpPr>
          <p:spPr>
            <a:xfrm>
              <a:off x="5212080" y="2926080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9A99A0">
                      <a:alpha val="10000"/>
                    </a:srgbClr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interreader agreement: matig → goed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1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8" name="Shape 2">
            <a:extLst>
              <a:ext uri="{FF2B5EF4-FFF2-40B4-BE49-F238E27FC236}">
                <a16:creationId xmlns:a16="http://schemas.microsoft.com/office/drawing/2014/main" id="{6D59BE12-7E3D-BE69-687C-22D8E18A8EBF}"/>
              </a:ext>
            </a:extLst>
          </p:cNvPr>
          <p:cNvSpPr/>
          <p:nvPr/>
        </p:nvSpPr>
        <p:spPr>
          <a:xfrm>
            <a:off x="457200" y="3200400"/>
            <a:ext cx="4114800" cy="411480"/>
          </a:xfrm>
          <a:prstGeom prst="rect">
            <a:avLst/>
          </a:prstGeom>
          <a:solidFill>
            <a:srgbClr val="2A2010"/>
          </a:solidFill>
          <a:ln/>
        </p:spPr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792DFC65-9B45-2682-EBE7-8440E973DB7C}"/>
              </a:ext>
            </a:extLst>
          </p:cNvPr>
          <p:cNvSpPr/>
          <p:nvPr/>
        </p:nvSpPr>
        <p:spPr>
          <a:xfrm>
            <a:off x="640080" y="3200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ADA82">
                    <a:alpha val="1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Sens/spec veranderde niet significant (p &gt; 0.05)</a:t>
            </a:r>
            <a:endParaRPr lang="en-US" sz="1000" dirty="0">
              <a:solidFill>
                <a:schemeClr val="tx1">
                  <a:alpha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9269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8A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Protocol </a:t>
            </a:r>
            <a:r>
              <a:rPr lang="en-US" sz="2400" b="1" dirty="0" err="1">
                <a:solidFill>
                  <a:srgbClr val="E8A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2400" b="1" dirty="0">
                <a:solidFill>
                  <a:srgbClr val="E8A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scanner </a:t>
            </a:r>
            <a:r>
              <a:rPr lang="en-US" sz="2400" b="1" dirty="0" err="1">
                <a:solidFill>
                  <a:srgbClr val="E8A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r>
              <a:rPr lang="en-US" sz="2400" b="1" dirty="0">
                <a:solidFill>
                  <a:srgbClr val="E8A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1-2-3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Bisacodyl compenseert géén </a:t>
            </a:r>
            <a:r>
              <a:rPr lang="en-US" sz="1300" dirty="0" err="1">
                <a:solidFill>
                  <a:srgbClr val="9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slecht</a:t>
            </a:r>
            <a:r>
              <a:rPr lang="en-US" sz="1300" dirty="0">
                <a:solidFill>
                  <a:srgbClr val="9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protocol of </a:t>
            </a:r>
            <a:r>
              <a:rPr lang="en-US" sz="1300" dirty="0" err="1">
                <a:solidFill>
                  <a:srgbClr val="9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verouderde</a:t>
            </a:r>
            <a:r>
              <a:rPr lang="en-US" sz="1300" dirty="0">
                <a:solidFill>
                  <a:srgbClr val="9A9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2D121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+ Protocol </a:t>
            </a:r>
            <a:r>
              <a:rPr lang="en-US" sz="1200" b="1" dirty="0" err="1">
                <a:solidFill>
                  <a:srgbClr val="F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belangrijker</a:t>
            </a:r>
            <a:r>
              <a:rPr lang="en-US" sz="1200" b="1" dirty="0">
                <a:solidFill>
                  <a:srgbClr val="F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Bisacodyl. Accuracy: 89% high-res vs 79% suboptimaal.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800" dirty="0">
                <a:solidFill>
                  <a:srgbClr val="5F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der Schee et al. Endoscopy 2025</a:t>
            </a:r>
            <a:endParaRPr lang="en-US" sz="800" dirty="0"/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1DE4B7F9-B49D-67D2-9108-3FA1E3C766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9658"/>
          <a:stretch>
            <a:fillRect/>
          </a:stretch>
        </p:blipFill>
        <p:spPr>
          <a:xfrm>
            <a:off x="200400" y="2103120"/>
            <a:ext cx="4077332" cy="2180908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0AAEAF18-92A4-3BFF-9518-EAE2B67481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658"/>
          <a:stretch>
            <a:fillRect/>
          </a:stretch>
        </p:blipFill>
        <p:spPr>
          <a:xfrm>
            <a:off x="4866268" y="2103120"/>
            <a:ext cx="4077332" cy="218090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F0361-DDFB-8BFD-F0D3-5427155F0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279B94-ADD8-D2FD-D0B1-E06A9C09021F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</a:t>
            </a:r>
            <a:r>
              <a:rPr lang="en-US" sz="2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zover</a:t>
            </a: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1D03492-CE46-61AB-B23C-71E33A981749}"/>
              </a:ext>
            </a:extLst>
          </p:cNvPr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4F98A3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CC73AF-3180-3C10-5724-193825B1980B}"/>
              </a:ext>
            </a:extLst>
          </p:cNvPr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20444CB-A16B-2512-4F84-F5EFF893DB1E}"/>
              </a:ext>
            </a:extLst>
          </p:cNvPr>
          <p:cNvSpPr/>
          <p:nvPr/>
        </p:nvSpPr>
        <p:spPr>
          <a:xfrm>
            <a:off x="9601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Belangrijikste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Europese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radiologie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richlijn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MRI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moet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het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cT1-2 laten</a:t>
            </a:r>
            <a:endParaRPr lang="en-US" sz="14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C4C6418-ABD8-76BF-BCF9-CDB6EC9E2495}"/>
              </a:ext>
            </a:extLst>
          </p:cNvPr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4F98A3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092C2C-B08E-8E60-CBE6-124A4E84DC0A}"/>
              </a:ext>
            </a:extLst>
          </p:cNvPr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7360FDA-578A-D133-223B-0646206A8ADA}"/>
              </a:ext>
            </a:extLst>
          </p:cNvPr>
          <p:cNvSpPr/>
          <p:nvPr/>
        </p:nvSpPr>
        <p:spPr>
          <a:xfrm>
            <a:off x="960120" y="1828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Literatuur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aanwijzingen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relatief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studies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MRI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0B5D3B2-7CDC-7142-216A-1D637990AECD}"/>
              </a:ext>
            </a:extLst>
          </p:cNvPr>
          <p:cNvSpPr/>
          <p:nvPr/>
        </p:nvSpPr>
        <p:spPr>
          <a:xfrm>
            <a:off x="457200" y="2468880"/>
            <a:ext cx="320040" cy="320040"/>
          </a:xfrm>
          <a:prstGeom prst="ellipse">
            <a:avLst/>
          </a:prstGeom>
          <a:solidFill>
            <a:srgbClr val="4F98A3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C6C0C87-727A-F9D1-AE32-91940F180418}"/>
              </a:ext>
            </a:extLst>
          </p:cNvPr>
          <p:cNvSpPr/>
          <p:nvPr/>
        </p:nvSpPr>
        <p:spPr>
          <a:xfrm>
            <a:off x="45720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514D188-E1B0-C74B-3DDC-133E97D97FB4}"/>
              </a:ext>
            </a:extLst>
          </p:cNvPr>
          <p:cNvSpPr/>
          <p:nvPr/>
        </p:nvSpPr>
        <p:spPr>
          <a:xfrm>
            <a:off x="960120" y="2468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Bisacodyl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lijkt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kunnen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maar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tip-top MRI scanner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protocol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belangrijker</a:t>
            </a:r>
            <a:endParaRPr lang="en-US" sz="1400" b="1" dirty="0">
              <a:solidFill>
                <a:srgbClr val="E0DF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5265BD5D-552F-53B0-FF65-A7A9B9A338DE}"/>
              </a:ext>
            </a:extLst>
          </p:cNvPr>
          <p:cNvSpPr/>
          <p:nvPr/>
        </p:nvSpPr>
        <p:spPr>
          <a:xfrm>
            <a:off x="457200" y="3093720"/>
            <a:ext cx="320040" cy="320040"/>
          </a:xfrm>
          <a:prstGeom prst="ellipse">
            <a:avLst/>
          </a:prstGeom>
          <a:solidFill>
            <a:srgbClr val="4F98A3"/>
          </a:solidFill>
          <a:ln/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24DC271-213A-B53A-66C6-0C5167419B47}"/>
              </a:ext>
            </a:extLst>
          </p:cNvPr>
          <p:cNvSpPr/>
          <p:nvPr/>
        </p:nvSpPr>
        <p:spPr>
          <a:xfrm>
            <a:off x="609600" y="2621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40A7466-5E50-8195-2DC6-55900385F590}"/>
              </a:ext>
            </a:extLst>
          </p:cNvPr>
          <p:cNvSpPr/>
          <p:nvPr/>
        </p:nvSpPr>
        <p:spPr>
          <a:xfrm>
            <a:off x="457200" y="30861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86BA17FF-E958-9FC1-F3AB-DA88BDAD0F4B}"/>
              </a:ext>
            </a:extLst>
          </p:cNvPr>
          <p:cNvSpPr/>
          <p:nvPr/>
        </p:nvSpPr>
        <p:spPr>
          <a:xfrm>
            <a:off x="960120" y="30861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helpt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 T,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ook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peritoneale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reflectie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mesorectaal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vet achter de wand?</a:t>
            </a:r>
          </a:p>
        </p:txBody>
      </p:sp>
    </p:spTree>
    <p:extLst>
      <p:ext uri="{BB962C8B-B14F-4D97-AF65-F5344CB8AC3E}">
        <p14:creationId xmlns:p14="http://schemas.microsoft.com/office/powerpoint/2010/main" val="22856018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4C2E4-C975-3B5E-FF92-AB76D4E82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BAD17C0-484F-07CA-0FAC-AA4944DF2D2B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met Bisacodyl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 UMC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DC88CC-28C7-23BF-4E7F-91D3CD11E205}"/>
              </a:ext>
            </a:extLst>
          </p:cNvPr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55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C20D6EC-A0D6-7B71-DF17-422CC71CAE74}"/>
              </a:ext>
            </a:extLst>
          </p:cNvPr>
          <p:cNvSpPr/>
          <p:nvPr/>
        </p:nvSpPr>
        <p:spPr>
          <a:xfrm>
            <a:off x="457200" y="1427337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Rectaal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bloedverlies</a:t>
            </a:r>
            <a:endParaRPr lang="en-US" sz="1300" b="1" dirty="0">
              <a:solidFill>
                <a:srgbClr val="E0DF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Scopie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JNET3 (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diep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submucosaal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elders: cT1-2N0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19041D6-7909-2A47-6E70-D077872576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28" t="-439"/>
          <a:stretch>
            <a:fillRect/>
          </a:stretch>
        </p:blipFill>
        <p:spPr>
          <a:xfrm>
            <a:off x="805416" y="2148290"/>
            <a:ext cx="3585830" cy="2821403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0FE46937-6C19-05E4-BF50-902962E7DF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728"/>
          <a:stretch>
            <a:fillRect/>
          </a:stretch>
        </p:blipFill>
        <p:spPr>
          <a:xfrm>
            <a:off x="4739462" y="2113137"/>
            <a:ext cx="3779875" cy="296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823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72C692-A3DA-A683-F168-C1654B0B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F16CCF-2B1B-9679-FB13-27DD34D03DB9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met Bisacodyl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 UMC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DA6482-934F-2B09-D0A7-CA5EA7FED882}"/>
              </a:ext>
            </a:extLst>
          </p:cNvPr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55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9AEF66A-041F-F8EE-5F75-C0902F47D806}"/>
              </a:ext>
            </a:extLst>
          </p:cNvPr>
          <p:cNvSpPr/>
          <p:nvPr/>
        </p:nvSpPr>
        <p:spPr>
          <a:xfrm>
            <a:off x="457200" y="1427337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Rectaal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bloedverlies</a:t>
            </a:r>
            <a:endParaRPr lang="en-US" sz="1300" b="1" dirty="0">
              <a:solidFill>
                <a:srgbClr val="E0DF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Scopie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JNET3 (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diep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submucosaal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elders: cT1-2N0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DE65EF5-BAFD-50EB-3B23-6BF20B6C62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397" t="29496" r="11819" b="10698"/>
          <a:stretch>
            <a:fillRect/>
          </a:stretch>
        </p:blipFill>
        <p:spPr>
          <a:xfrm>
            <a:off x="3732028" y="1108892"/>
            <a:ext cx="4359349" cy="3845104"/>
          </a:xfrm>
          <a:prstGeom prst="rect">
            <a:avLst/>
          </a:prstGeom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FA60DBB0-24E7-E9D9-F50D-3E30C88B63D9}"/>
              </a:ext>
            </a:extLst>
          </p:cNvPr>
          <p:cNvCxnSpPr>
            <a:cxnSpLocks/>
          </p:cNvCxnSpPr>
          <p:nvPr/>
        </p:nvCxnSpPr>
        <p:spPr>
          <a:xfrm>
            <a:off x="6019103" y="616688"/>
            <a:ext cx="0" cy="241079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367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86167" name="Rad2Sha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5453"/>
            <a:ext cx="9145355" cy="4011683"/>
          </a:xfrm>
          <a:prstGeom prst="rect">
            <a:avLst/>
          </a:prstGeom>
        </p:spPr>
      </p:pic>
      <p:pic>
        <p:nvPicPr>
          <p:cNvPr id="675715108" name="Rad2Sha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5453"/>
            <a:ext cx="9145355" cy="4011683"/>
          </a:xfrm>
          <a:prstGeom prst="rect">
            <a:avLst/>
          </a:prstGeom>
        </p:spPr>
      </p:pic>
      <p:pic>
        <p:nvPicPr>
          <p:cNvPr id="814201849" name="Rad2Sha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5453"/>
            <a:ext cx="9145355" cy="4011683"/>
          </a:xfrm>
          <a:prstGeom prst="rect">
            <a:avLst/>
          </a:prstGeom>
        </p:spPr>
      </p:pic>
      <p:pic>
        <p:nvPicPr>
          <p:cNvPr id="994107844" name="Rad2Sha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5453"/>
            <a:ext cx="9145355" cy="4011683"/>
          </a:xfrm>
          <a:prstGeom prst="rect">
            <a:avLst/>
          </a:prstGeom>
        </p:spPr>
      </p:pic>
      <p:pic>
        <p:nvPicPr>
          <p:cNvPr id="508584604" name="Rad2Sha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5453"/>
            <a:ext cx="9145355" cy="4011683"/>
          </a:xfrm>
          <a:prstGeom prst="rect">
            <a:avLst/>
          </a:prstGeom>
        </p:spPr>
      </p:pic>
      <p:pic>
        <p:nvPicPr>
          <p:cNvPr id="765793794" name="Rad2Sha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5453"/>
            <a:ext cx="9145355" cy="4011683"/>
          </a:xfrm>
          <a:prstGeom prst="rect">
            <a:avLst/>
          </a:prstGeom>
        </p:spPr>
      </p:pic>
      <p:pic>
        <p:nvPicPr>
          <p:cNvPr id="2" name="Afbeelding 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00" y="0"/>
            <a:ext cx="185738" cy="185738"/>
          </a:xfrm>
          <a:prstGeom prst="rect">
            <a:avLst/>
          </a:prstGeom>
        </p:spPr>
      </p:pic>
      <p:pic>
        <p:nvPicPr>
          <p:cNvPr id="3" name="Afbeelding 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000" y="0"/>
            <a:ext cx="185738" cy="185738"/>
          </a:xfrm>
          <a:prstGeom prst="rect">
            <a:avLst/>
          </a:prstGeom>
        </p:spPr>
      </p:pic>
      <p:sp>
        <p:nvSpPr>
          <p:cNvPr id="1173382893" name="Rad2ShareLabel 1"/>
          <p:cNvSpPr txBox="1"/>
          <p:nvPr/>
        </p:nvSpPr>
        <p:spPr>
          <a:xfrm>
            <a:off x="0" y="4369387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1/6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737649047" name="Rad2ShareLabel 2"/>
          <p:cNvSpPr txBox="1"/>
          <p:nvPr/>
        </p:nvSpPr>
        <p:spPr>
          <a:xfrm>
            <a:off x="0" y="4369387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2/6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36818179" name="Rad2ShareLabel 3"/>
          <p:cNvSpPr txBox="1"/>
          <p:nvPr/>
        </p:nvSpPr>
        <p:spPr>
          <a:xfrm>
            <a:off x="0" y="4369387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3/6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641844654" name="Rad2ShareLabel 4"/>
          <p:cNvSpPr txBox="1"/>
          <p:nvPr/>
        </p:nvSpPr>
        <p:spPr>
          <a:xfrm>
            <a:off x="0" y="4369387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4/6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548191613" name="Rad2ShareLabel 5"/>
          <p:cNvSpPr txBox="1"/>
          <p:nvPr/>
        </p:nvSpPr>
        <p:spPr>
          <a:xfrm>
            <a:off x="0" y="4369387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5/6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713373586" name="Rad2ShareLabel 6"/>
          <p:cNvSpPr txBox="1"/>
          <p:nvPr/>
        </p:nvSpPr>
        <p:spPr>
          <a:xfrm>
            <a:off x="0" y="4369387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6/6</a:t>
            </a:r>
            <a:endParaRPr lang="nl-NL" sz="1350" dirty="0">
              <a:solidFill>
                <a:schemeClr val="bg1"/>
              </a:solidFill>
            </a:endParaRPr>
          </a:p>
        </p:txBody>
      </p:sp>
      <p:cxnSp>
        <p:nvCxnSpPr>
          <p:cNvPr id="4" name="Rechte verbindingslijn met pijl 3">
            <a:extLst>
              <a:ext uri="{FF2B5EF4-FFF2-40B4-BE49-F238E27FC236}">
                <a16:creationId xmlns:a16="http://schemas.microsoft.com/office/drawing/2014/main" id="{F1AA016C-DBCB-C93E-8A6A-590ECB3502BC}"/>
              </a:ext>
            </a:extLst>
          </p:cNvPr>
          <p:cNvCxnSpPr>
            <a:cxnSpLocks/>
          </p:cNvCxnSpPr>
          <p:nvPr/>
        </p:nvCxnSpPr>
        <p:spPr>
          <a:xfrm>
            <a:off x="1936200" y="382772"/>
            <a:ext cx="0" cy="180576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Rechte verbindingslijn met pijl 5">
            <a:extLst>
              <a:ext uri="{FF2B5EF4-FFF2-40B4-BE49-F238E27FC236}">
                <a16:creationId xmlns:a16="http://schemas.microsoft.com/office/drawing/2014/main" id="{0AC5B0DC-EC21-DE81-33BF-B10C5D665766}"/>
              </a:ext>
            </a:extLst>
          </p:cNvPr>
          <p:cNvCxnSpPr>
            <a:cxnSpLocks/>
          </p:cNvCxnSpPr>
          <p:nvPr/>
        </p:nvCxnSpPr>
        <p:spPr>
          <a:xfrm>
            <a:off x="569350" y="1754372"/>
            <a:ext cx="1168376" cy="133704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3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715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64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38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20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1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649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10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84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18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58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19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844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79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37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19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2742927" name="Rad2Sha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" y="724329"/>
            <a:ext cx="9110350" cy="3683285"/>
          </a:xfrm>
          <a:prstGeom prst="rect">
            <a:avLst/>
          </a:prstGeom>
        </p:spPr>
      </p:pic>
      <p:pic>
        <p:nvPicPr>
          <p:cNvPr id="1568693410" name="Rad2Sha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" y="724329"/>
            <a:ext cx="9110350" cy="3683285"/>
          </a:xfrm>
          <a:prstGeom prst="rect">
            <a:avLst/>
          </a:prstGeom>
        </p:spPr>
      </p:pic>
      <p:pic>
        <p:nvPicPr>
          <p:cNvPr id="1202317420" name="Rad2Sha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" y="724329"/>
            <a:ext cx="9110350" cy="3683285"/>
          </a:xfrm>
          <a:prstGeom prst="rect">
            <a:avLst/>
          </a:prstGeom>
        </p:spPr>
      </p:pic>
      <p:pic>
        <p:nvPicPr>
          <p:cNvPr id="2113278470" name="Rad2Sha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" y="724329"/>
            <a:ext cx="9110350" cy="3683285"/>
          </a:xfrm>
          <a:prstGeom prst="rect">
            <a:avLst/>
          </a:prstGeom>
        </p:spPr>
      </p:pic>
      <p:pic>
        <p:nvPicPr>
          <p:cNvPr id="813919705" name="Rad2Sha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" y="724329"/>
            <a:ext cx="9110350" cy="3683285"/>
          </a:xfrm>
          <a:prstGeom prst="rect">
            <a:avLst/>
          </a:prstGeom>
        </p:spPr>
      </p:pic>
      <p:pic>
        <p:nvPicPr>
          <p:cNvPr id="1116706668" name="Rad2Sha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" y="724329"/>
            <a:ext cx="9110350" cy="3683285"/>
          </a:xfrm>
          <a:prstGeom prst="rect">
            <a:avLst/>
          </a:prstGeom>
        </p:spPr>
      </p:pic>
      <p:pic>
        <p:nvPicPr>
          <p:cNvPr id="1019508016" name="Rad2Sha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" y="724329"/>
            <a:ext cx="9110350" cy="3683285"/>
          </a:xfrm>
          <a:prstGeom prst="rect">
            <a:avLst/>
          </a:prstGeom>
        </p:spPr>
      </p:pic>
      <p:pic>
        <p:nvPicPr>
          <p:cNvPr id="1793462923" name="Rad2Sha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" y="724329"/>
            <a:ext cx="9110350" cy="3683285"/>
          </a:xfrm>
          <a:prstGeom prst="rect">
            <a:avLst/>
          </a:prstGeom>
        </p:spPr>
      </p:pic>
      <p:pic>
        <p:nvPicPr>
          <p:cNvPr id="953308306" name="Rad2Sha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" y="724329"/>
            <a:ext cx="9110350" cy="3683285"/>
          </a:xfrm>
          <a:prstGeom prst="rect">
            <a:avLst/>
          </a:prstGeom>
        </p:spPr>
      </p:pic>
      <p:pic>
        <p:nvPicPr>
          <p:cNvPr id="2" name="Afbeelding 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00" y="0"/>
            <a:ext cx="185738" cy="185738"/>
          </a:xfrm>
          <a:prstGeom prst="rect">
            <a:avLst/>
          </a:prstGeom>
        </p:spPr>
      </p:pic>
      <p:pic>
        <p:nvPicPr>
          <p:cNvPr id="3" name="Afbeelding 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000" y="0"/>
            <a:ext cx="185738" cy="185738"/>
          </a:xfrm>
          <a:prstGeom prst="rect">
            <a:avLst/>
          </a:prstGeom>
        </p:spPr>
      </p:pic>
      <p:sp>
        <p:nvSpPr>
          <p:cNvPr id="285790535" name="Rad2ShareLabel 1"/>
          <p:cNvSpPr txBox="1"/>
          <p:nvPr/>
        </p:nvSpPr>
        <p:spPr>
          <a:xfrm>
            <a:off x="0" y="4841343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1/9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825790888" name="Rad2ShareLabel 2"/>
          <p:cNvSpPr txBox="1"/>
          <p:nvPr/>
        </p:nvSpPr>
        <p:spPr>
          <a:xfrm>
            <a:off x="0" y="4841343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2/9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240313472" name="Rad2ShareLabel 3"/>
          <p:cNvSpPr txBox="1"/>
          <p:nvPr/>
        </p:nvSpPr>
        <p:spPr>
          <a:xfrm>
            <a:off x="0" y="4841343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3/9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819992096" name="Rad2ShareLabel 4"/>
          <p:cNvSpPr txBox="1"/>
          <p:nvPr/>
        </p:nvSpPr>
        <p:spPr>
          <a:xfrm>
            <a:off x="0" y="4841343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4/9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377685970" name="Rad2ShareLabel 5"/>
          <p:cNvSpPr txBox="1"/>
          <p:nvPr/>
        </p:nvSpPr>
        <p:spPr>
          <a:xfrm>
            <a:off x="0" y="4841343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5/9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129155176" name="Rad2ShareLabel 6"/>
          <p:cNvSpPr txBox="1"/>
          <p:nvPr/>
        </p:nvSpPr>
        <p:spPr>
          <a:xfrm>
            <a:off x="0" y="4841343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6/9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2024442933" name="Rad2ShareLabel 7"/>
          <p:cNvSpPr txBox="1"/>
          <p:nvPr/>
        </p:nvSpPr>
        <p:spPr>
          <a:xfrm>
            <a:off x="0" y="4841343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7/9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013131424" name="Rad2ShareLabel 8"/>
          <p:cNvSpPr txBox="1"/>
          <p:nvPr/>
        </p:nvSpPr>
        <p:spPr>
          <a:xfrm>
            <a:off x="0" y="4841343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8/9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555488189" name="Rad2ShareLabel 9"/>
          <p:cNvSpPr txBox="1"/>
          <p:nvPr/>
        </p:nvSpPr>
        <p:spPr>
          <a:xfrm>
            <a:off x="0" y="4841343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9/9</a:t>
            </a:r>
            <a:endParaRPr lang="nl-NL" sz="13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48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69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79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9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3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31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579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327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99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31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91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68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99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706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5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685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50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44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5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462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13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444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308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488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13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38062-757C-BACD-804A-3B7168FF2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F780D1-EC33-818E-B9EE-4129BFC98976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met Bisacodyl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 UMC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029042-5D55-DBA6-F56C-B7FFBA8135B2}"/>
              </a:ext>
            </a:extLst>
          </p:cNvPr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55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endParaRPr lang="en-US" sz="1400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E93B0EB-F75B-1BC9-6EFE-66A42C35F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1173"/>
            <a:ext cx="3195205" cy="2559985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5EC1226C-9AB7-1EC5-07FD-AAC28C0A7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5205" y="1451172"/>
            <a:ext cx="3226749" cy="2559985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E44259E6-C13B-8A30-E9F9-5A726F995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253413" y="1451171"/>
            <a:ext cx="2815984" cy="255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0811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8E47D-1A81-9BC0-C334-DB279FA58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B2274A-A12A-97F4-FDAB-5B7ADA59B32B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met Bisacodyl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 UMC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9AAF72-0E2A-9583-82F2-C0E75E2D2752}"/>
              </a:ext>
            </a:extLst>
          </p:cNvPr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– 55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endParaRPr lang="en-US" sz="1400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8C4CC57-BF33-3010-9037-95A0624B4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189" y="784180"/>
            <a:ext cx="5766666" cy="2201817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D4B1B8D2-AA93-5D8D-71FC-026C34B8B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4188" y="2805764"/>
            <a:ext cx="5766667" cy="2175674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0D5D9FAC-B3B9-A6B3-78D9-474219EF4715}"/>
              </a:ext>
            </a:extLst>
          </p:cNvPr>
          <p:cNvSpPr/>
          <p:nvPr/>
        </p:nvSpPr>
        <p:spPr>
          <a:xfrm>
            <a:off x="457200" y="1427337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risicofactoren</a:t>
            </a:r>
            <a:endParaRPr lang="en-US" sz="1300" b="1" dirty="0">
              <a:solidFill>
                <a:srgbClr val="E0DF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Bd3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vaten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invasie</a:t>
            </a:r>
            <a:endParaRPr lang="en-US" sz="1300" b="1" dirty="0">
              <a:solidFill>
                <a:srgbClr val="E0DF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300" b="1" dirty="0">
              <a:solidFill>
                <a:srgbClr val="E0DF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Aanvullende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TME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tumor deposit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300" b="1" dirty="0">
              <a:solidFill>
                <a:srgbClr val="E0DF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94429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F8883-6A01-0FB3-D6D3-6CB138115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B4376D-0047-D366-9642-86ECD5505E49}"/>
              </a:ext>
            </a:extLst>
          </p:cNvPr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met Bisacodyl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Amsterdam UMC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BCE507-6045-E53D-9DAF-BEBEECA0A6ED}"/>
              </a:ext>
            </a:extLst>
          </p:cNvPr>
          <p:cNvSpPr/>
          <p:nvPr/>
        </p:nvSpPr>
        <p:spPr>
          <a:xfrm>
            <a:off x="45720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Vrouw – 57 </a:t>
            </a:r>
            <a:r>
              <a:rPr lang="en-US" sz="1400" b="1" kern="0" spc="200" dirty="0" err="1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jaar</a:t>
            </a:r>
            <a:endParaRPr lang="en-US" sz="1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CF52EFF-F64C-13B2-E866-1BA822364240}"/>
              </a:ext>
            </a:extLst>
          </p:cNvPr>
          <p:cNvSpPr/>
          <p:nvPr/>
        </p:nvSpPr>
        <p:spPr>
          <a:xfrm>
            <a:off x="457200" y="1427337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BVO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Scopie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poliep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rectum,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waarschijnlijk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T1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elders: </a:t>
            </a:r>
            <a:r>
              <a:rPr lang="en-US" sz="1300" b="1" i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</a:t>
            </a:r>
            <a:r>
              <a:rPr lang="en-US" sz="1300" b="1" i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i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verslag</a:t>
            </a:r>
            <a:r>
              <a:rPr lang="en-US" sz="1300" b="1" i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beoordeling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Amsterdam UMC: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waarschijnlijk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T1, steel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</a:t>
            </a:r>
            <a:r>
              <a:rPr lang="en-US" sz="13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beoordeelbaar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sz="1300" b="1" dirty="0">
              <a:solidFill>
                <a:srgbClr val="E0DF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0FEFDE5-C368-82D1-95E5-3BAAC645C1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001"/>
          <a:stretch>
            <a:fillRect/>
          </a:stretch>
        </p:blipFill>
        <p:spPr>
          <a:xfrm>
            <a:off x="1520456" y="2354782"/>
            <a:ext cx="3200400" cy="2516795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BD974151-79DA-F136-4EEF-7AC86250C1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728"/>
          <a:stretch>
            <a:fillRect/>
          </a:stretch>
        </p:blipFill>
        <p:spPr>
          <a:xfrm>
            <a:off x="4720856" y="2341574"/>
            <a:ext cx="3229593" cy="253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360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6841319" name="Rad2Sha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19"/>
            <a:ext cx="9145474" cy="4242703"/>
          </a:xfrm>
          <a:prstGeom prst="rect">
            <a:avLst/>
          </a:prstGeom>
        </p:spPr>
      </p:pic>
      <p:pic>
        <p:nvPicPr>
          <p:cNvPr id="440506868" name="Rad2Sha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19"/>
            <a:ext cx="9145474" cy="4242703"/>
          </a:xfrm>
          <a:prstGeom prst="rect">
            <a:avLst/>
          </a:prstGeom>
        </p:spPr>
      </p:pic>
      <p:pic>
        <p:nvPicPr>
          <p:cNvPr id="280015784" name="Rad2Sha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19"/>
            <a:ext cx="9145474" cy="4242703"/>
          </a:xfrm>
          <a:prstGeom prst="rect">
            <a:avLst/>
          </a:prstGeom>
        </p:spPr>
      </p:pic>
      <p:pic>
        <p:nvPicPr>
          <p:cNvPr id="2045262839" name="Rad2Sha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19"/>
            <a:ext cx="9145474" cy="4242703"/>
          </a:xfrm>
          <a:prstGeom prst="rect">
            <a:avLst/>
          </a:prstGeom>
        </p:spPr>
      </p:pic>
      <p:pic>
        <p:nvPicPr>
          <p:cNvPr id="430418156" name="Rad2Sha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19"/>
            <a:ext cx="9145474" cy="4242703"/>
          </a:xfrm>
          <a:prstGeom prst="rect">
            <a:avLst/>
          </a:prstGeom>
        </p:spPr>
      </p:pic>
      <p:pic>
        <p:nvPicPr>
          <p:cNvPr id="1752190110" name="Rad2Sha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19"/>
            <a:ext cx="9145474" cy="4242703"/>
          </a:xfrm>
          <a:prstGeom prst="rect">
            <a:avLst/>
          </a:prstGeom>
        </p:spPr>
      </p:pic>
      <p:pic>
        <p:nvPicPr>
          <p:cNvPr id="1053693007" name="Rad2Sha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19"/>
            <a:ext cx="9145474" cy="4242703"/>
          </a:xfrm>
          <a:prstGeom prst="rect">
            <a:avLst/>
          </a:prstGeom>
        </p:spPr>
      </p:pic>
      <p:pic>
        <p:nvPicPr>
          <p:cNvPr id="1356634581" name="Rad2Sha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19"/>
            <a:ext cx="9145474" cy="4242703"/>
          </a:xfrm>
          <a:prstGeom prst="rect">
            <a:avLst/>
          </a:prstGeom>
        </p:spPr>
      </p:pic>
      <p:pic>
        <p:nvPicPr>
          <p:cNvPr id="585973588" name="Rad2Sha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19"/>
            <a:ext cx="9145474" cy="4242703"/>
          </a:xfrm>
          <a:prstGeom prst="rect">
            <a:avLst/>
          </a:prstGeom>
        </p:spPr>
      </p:pic>
      <p:pic>
        <p:nvPicPr>
          <p:cNvPr id="111626325" name="Rad2Share 1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19"/>
            <a:ext cx="9145474" cy="4242703"/>
          </a:xfrm>
          <a:prstGeom prst="rect">
            <a:avLst/>
          </a:prstGeom>
        </p:spPr>
      </p:pic>
      <p:pic>
        <p:nvPicPr>
          <p:cNvPr id="1819874116" name="Rad2Share 1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0019"/>
            <a:ext cx="9145474" cy="4242703"/>
          </a:xfrm>
          <a:prstGeom prst="rect">
            <a:avLst/>
          </a:prstGeom>
        </p:spPr>
      </p:pic>
      <p:pic>
        <p:nvPicPr>
          <p:cNvPr id="2" name="Afbeelding 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00" y="0"/>
            <a:ext cx="185738" cy="185738"/>
          </a:xfrm>
          <a:prstGeom prst="rect">
            <a:avLst/>
          </a:prstGeom>
        </p:spPr>
      </p:pic>
      <p:pic>
        <p:nvPicPr>
          <p:cNvPr id="3" name="Afbeelding 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000" y="0"/>
            <a:ext cx="185738" cy="185738"/>
          </a:xfrm>
          <a:prstGeom prst="rect">
            <a:avLst/>
          </a:prstGeom>
        </p:spPr>
      </p:pic>
      <p:sp>
        <p:nvSpPr>
          <p:cNvPr id="446758921" name="Rad2ShareLabel 1"/>
          <p:cNvSpPr txBox="1"/>
          <p:nvPr/>
        </p:nvSpPr>
        <p:spPr>
          <a:xfrm>
            <a:off x="0" y="4484972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1/11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044480564" name="Rad2ShareLabel 2"/>
          <p:cNvSpPr txBox="1"/>
          <p:nvPr/>
        </p:nvSpPr>
        <p:spPr>
          <a:xfrm>
            <a:off x="0" y="4484972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2/11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639361169" name="Rad2ShareLabel 3"/>
          <p:cNvSpPr txBox="1"/>
          <p:nvPr/>
        </p:nvSpPr>
        <p:spPr>
          <a:xfrm>
            <a:off x="0" y="4484972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3/11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469613922" name="Rad2ShareLabel 4"/>
          <p:cNvSpPr txBox="1"/>
          <p:nvPr/>
        </p:nvSpPr>
        <p:spPr>
          <a:xfrm>
            <a:off x="0" y="4484972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4/11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430250039" name="Rad2ShareLabel 5"/>
          <p:cNvSpPr txBox="1"/>
          <p:nvPr/>
        </p:nvSpPr>
        <p:spPr>
          <a:xfrm>
            <a:off x="0" y="4484972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5/11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2090298313" name="Rad2ShareLabel 6"/>
          <p:cNvSpPr txBox="1"/>
          <p:nvPr/>
        </p:nvSpPr>
        <p:spPr>
          <a:xfrm>
            <a:off x="0" y="4484972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6/11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238987620" name="Rad2ShareLabel 7"/>
          <p:cNvSpPr txBox="1"/>
          <p:nvPr/>
        </p:nvSpPr>
        <p:spPr>
          <a:xfrm>
            <a:off x="0" y="4484972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7/11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2007462217" name="Rad2ShareLabel 8"/>
          <p:cNvSpPr txBox="1"/>
          <p:nvPr/>
        </p:nvSpPr>
        <p:spPr>
          <a:xfrm>
            <a:off x="0" y="4484972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8/11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821788148" name="Rad2ShareLabel 9"/>
          <p:cNvSpPr txBox="1"/>
          <p:nvPr/>
        </p:nvSpPr>
        <p:spPr>
          <a:xfrm>
            <a:off x="0" y="4484972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9/11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984903159" name="Rad2ShareLabel 10"/>
          <p:cNvSpPr txBox="1"/>
          <p:nvPr/>
        </p:nvSpPr>
        <p:spPr>
          <a:xfrm>
            <a:off x="0" y="4484972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10/11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738562276" name="Rad2ShareLabel 11"/>
          <p:cNvSpPr txBox="1"/>
          <p:nvPr/>
        </p:nvSpPr>
        <p:spPr>
          <a:xfrm>
            <a:off x="0" y="4484972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11/11</a:t>
            </a:r>
            <a:endParaRPr lang="nl-NL" sz="13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950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75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01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36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526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61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36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25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61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19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2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25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693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8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2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63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46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8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97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8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46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90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8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87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56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903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0687251" name="Rad2Sha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46"/>
            <a:ext cx="9080657" cy="4123540"/>
          </a:xfrm>
          <a:prstGeom prst="rect">
            <a:avLst/>
          </a:prstGeom>
        </p:spPr>
      </p:pic>
      <p:pic>
        <p:nvPicPr>
          <p:cNvPr id="952434748" name="Rad2Sha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46"/>
            <a:ext cx="9080657" cy="4123540"/>
          </a:xfrm>
          <a:prstGeom prst="rect">
            <a:avLst/>
          </a:prstGeom>
        </p:spPr>
      </p:pic>
      <p:pic>
        <p:nvPicPr>
          <p:cNvPr id="778762678" name="Rad2Sha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46"/>
            <a:ext cx="9080657" cy="4123540"/>
          </a:xfrm>
          <a:prstGeom prst="rect">
            <a:avLst/>
          </a:prstGeom>
        </p:spPr>
      </p:pic>
      <p:pic>
        <p:nvPicPr>
          <p:cNvPr id="142097235" name="Rad2Sha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46"/>
            <a:ext cx="9080657" cy="4123540"/>
          </a:xfrm>
          <a:prstGeom prst="rect">
            <a:avLst/>
          </a:prstGeom>
        </p:spPr>
      </p:pic>
      <p:pic>
        <p:nvPicPr>
          <p:cNvPr id="1386827485" name="Rad2Sha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46"/>
            <a:ext cx="9080657" cy="4123540"/>
          </a:xfrm>
          <a:prstGeom prst="rect">
            <a:avLst/>
          </a:prstGeom>
        </p:spPr>
      </p:pic>
      <p:pic>
        <p:nvPicPr>
          <p:cNvPr id="1925883958" name="Rad2Sha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46"/>
            <a:ext cx="9080657" cy="4123540"/>
          </a:xfrm>
          <a:prstGeom prst="rect">
            <a:avLst/>
          </a:prstGeom>
        </p:spPr>
      </p:pic>
      <p:pic>
        <p:nvPicPr>
          <p:cNvPr id="45136614" name="Rad2Sha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46"/>
            <a:ext cx="9080657" cy="4123540"/>
          </a:xfrm>
          <a:prstGeom prst="rect">
            <a:avLst/>
          </a:prstGeom>
        </p:spPr>
      </p:pic>
      <p:pic>
        <p:nvPicPr>
          <p:cNvPr id="1925757186" name="Rad2Share 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46"/>
            <a:ext cx="9080657" cy="4123540"/>
          </a:xfrm>
          <a:prstGeom prst="rect">
            <a:avLst/>
          </a:prstGeom>
        </p:spPr>
      </p:pic>
      <p:pic>
        <p:nvPicPr>
          <p:cNvPr id="2032158403" name="Rad2Share 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46"/>
            <a:ext cx="9080657" cy="4123540"/>
          </a:xfrm>
          <a:prstGeom prst="rect">
            <a:avLst/>
          </a:prstGeom>
        </p:spPr>
      </p:pic>
      <p:pic>
        <p:nvPicPr>
          <p:cNvPr id="1589664087" name="Rad2Share 1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46"/>
            <a:ext cx="9080657" cy="4123540"/>
          </a:xfrm>
          <a:prstGeom prst="rect">
            <a:avLst/>
          </a:prstGeom>
        </p:spPr>
      </p:pic>
      <p:pic>
        <p:nvPicPr>
          <p:cNvPr id="627600056" name="Rad2Share 1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946"/>
            <a:ext cx="9080657" cy="4123540"/>
          </a:xfrm>
          <a:prstGeom prst="rect">
            <a:avLst/>
          </a:prstGeom>
        </p:spPr>
      </p:pic>
      <p:pic>
        <p:nvPicPr>
          <p:cNvPr id="2" name="Afbeelding 1">
            <a:hlinkClick r:id="" action="ppaction://hlinkshowjump?jump=previousslide"/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000" y="0"/>
            <a:ext cx="185738" cy="185738"/>
          </a:xfrm>
          <a:prstGeom prst="rect">
            <a:avLst/>
          </a:prstGeom>
        </p:spPr>
      </p:pic>
      <p:pic>
        <p:nvPicPr>
          <p:cNvPr id="3" name="Afbeelding 1">
            <a:hlinkClick r:id="" action="ppaction://hlinkshowjump?jump=nextslide"/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000" y="0"/>
            <a:ext cx="185738" cy="185738"/>
          </a:xfrm>
          <a:prstGeom prst="rect">
            <a:avLst/>
          </a:prstGeom>
        </p:spPr>
      </p:pic>
      <p:sp>
        <p:nvSpPr>
          <p:cNvPr id="1619325992" name="Rad2ShareLabel 1"/>
          <p:cNvSpPr txBox="1"/>
          <p:nvPr/>
        </p:nvSpPr>
        <p:spPr>
          <a:xfrm>
            <a:off x="0" y="4622486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1/11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2117614829" name="Rad2ShareLabel 2"/>
          <p:cNvSpPr txBox="1"/>
          <p:nvPr/>
        </p:nvSpPr>
        <p:spPr>
          <a:xfrm>
            <a:off x="0" y="4622486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2/11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535048956" name="Rad2ShareLabel 3"/>
          <p:cNvSpPr txBox="1"/>
          <p:nvPr/>
        </p:nvSpPr>
        <p:spPr>
          <a:xfrm>
            <a:off x="0" y="4622486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3/11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586721571" name="Rad2ShareLabel 4"/>
          <p:cNvSpPr txBox="1"/>
          <p:nvPr/>
        </p:nvSpPr>
        <p:spPr>
          <a:xfrm>
            <a:off x="0" y="4622486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4/11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2102515891" name="Rad2ShareLabel 5"/>
          <p:cNvSpPr txBox="1"/>
          <p:nvPr/>
        </p:nvSpPr>
        <p:spPr>
          <a:xfrm>
            <a:off x="0" y="4622486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5/11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048376460" name="Rad2ShareLabel 6"/>
          <p:cNvSpPr txBox="1"/>
          <p:nvPr/>
        </p:nvSpPr>
        <p:spPr>
          <a:xfrm>
            <a:off x="0" y="4622486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6/11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131694779" name="Rad2ShareLabel 7"/>
          <p:cNvSpPr txBox="1"/>
          <p:nvPr/>
        </p:nvSpPr>
        <p:spPr>
          <a:xfrm>
            <a:off x="0" y="4622486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7/11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2022149176" name="Rad2ShareLabel 8"/>
          <p:cNvSpPr txBox="1"/>
          <p:nvPr/>
        </p:nvSpPr>
        <p:spPr>
          <a:xfrm>
            <a:off x="0" y="4622486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8/11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9495721" name="Rad2ShareLabel 9"/>
          <p:cNvSpPr txBox="1"/>
          <p:nvPr/>
        </p:nvSpPr>
        <p:spPr>
          <a:xfrm>
            <a:off x="0" y="4622486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9/11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1362022249" name="Rad2ShareLabel 10"/>
          <p:cNvSpPr txBox="1"/>
          <p:nvPr/>
        </p:nvSpPr>
        <p:spPr>
          <a:xfrm>
            <a:off x="0" y="4622486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10/11</a:t>
            </a:r>
            <a:endParaRPr lang="nl-NL" sz="1350" dirty="0">
              <a:solidFill>
                <a:schemeClr val="bg1"/>
              </a:solidFill>
            </a:endParaRPr>
          </a:p>
        </p:txBody>
      </p:sp>
      <p:sp>
        <p:nvSpPr>
          <p:cNvPr id="624389277" name="Rad2ShareLabel 11"/>
          <p:cNvSpPr txBox="1"/>
          <p:nvPr/>
        </p:nvSpPr>
        <p:spPr>
          <a:xfrm>
            <a:off x="0" y="4622486"/>
            <a:ext cx="569350" cy="230832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nl-NL" sz="900" dirty="0">
                <a:solidFill>
                  <a:schemeClr val="bg1"/>
                </a:solidFill>
              </a:rPr>
              <a:t>11/11</a:t>
            </a:r>
            <a:endParaRPr lang="nl-NL" sz="13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804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3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61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3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762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04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61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97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7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048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82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51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7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88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37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51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3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69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37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75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1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694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158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21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9664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2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60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38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2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Dus </a:t>
            </a:r>
            <a:r>
              <a:rPr lang="en-US" sz="2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MRI </a:t>
            </a:r>
            <a:r>
              <a:rPr lang="en-US" sz="2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</a:t>
            </a:r>
            <a:r>
              <a:rPr lang="en-US" sz="2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rectal cancer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4F98A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zeker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therapie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keuze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early rectal cancer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4F98A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alleen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stadiëren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maar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behandeling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sturen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320040" cy="320040"/>
          </a:xfrm>
          <a:prstGeom prst="ellipse">
            <a:avLst/>
          </a:prstGeom>
          <a:solidFill>
            <a:srgbClr val="4F98A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468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Bisacodyl = add-on met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potentie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hoeveel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onzeker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MRI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prioriteit</a:t>
            </a:r>
            <a:r>
              <a:rPr lang="en-US" sz="14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1-2-3.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F98A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D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 &amp; </a:t>
            </a:r>
            <a:r>
              <a:rPr lang="en-US" sz="3200" b="1" dirty="0">
                <a:solidFill>
                  <a:srgbClr val="6C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</a:t>
            </a:r>
            <a:endParaRPr lang="en-US" sz="3200" dirty="0"/>
          </a:p>
        </p:txBody>
      </p:sp>
      <p:pic>
        <p:nvPicPr>
          <p:cNvPr id="7" name="Afbeelding 6" descr="logo amsterdam umc - QualityZorg">
            <a:extLst>
              <a:ext uri="{FF2B5EF4-FFF2-40B4-BE49-F238E27FC236}">
                <a16:creationId xmlns:a16="http://schemas.microsoft.com/office/drawing/2014/main" id="{DBB64A7A-1C3D-8AAF-79BF-73E54A98FA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835" b="33030"/>
          <a:stretch>
            <a:fillRect/>
          </a:stretch>
        </p:blipFill>
        <p:spPr>
          <a:xfrm>
            <a:off x="1491216" y="3621024"/>
            <a:ext cx="6161567" cy="11041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DDF0459-CEB5-A34F-BA38-E588289B7E17}">
  <we:reference id="wa200010001" version="1.0.0.1" store="en-US" storeType="OMEX"/>
  <we:alternateReferences>
    <we:reference id="wa200010001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13337</TotalTime>
  <Words>1786</Words>
  <Application>Microsoft Macintosh PowerPoint</Application>
  <PresentationFormat>Diavoorstelling (16:9)</PresentationFormat>
  <Paragraphs>380</Paragraphs>
  <Slides>51</Slides>
  <Notes>46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Jakob Kist</cp:lastModifiedBy>
  <cp:revision>15</cp:revision>
  <dcterms:created xsi:type="dcterms:W3CDTF">2026-03-18T16:58:30Z</dcterms:created>
  <dcterms:modified xsi:type="dcterms:W3CDTF">2026-04-06T18:40:25Z</dcterms:modified>
</cp:coreProperties>
</file>